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101_80705A28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7" r:id="rId2"/>
  </p:sldIdLst>
  <p:sldSz cx="13335000" cy="18859500"/>
  <p:notesSz cx="20926425" cy="146621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96" userDrawn="1">
          <p15:clr>
            <a:srgbClr val="A4A3A4"/>
          </p15:clr>
        </p15:guide>
        <p15:guide id="2" pos="4200" userDrawn="1">
          <p15:clr>
            <a:srgbClr val="A4A3A4"/>
          </p15:clr>
        </p15:guide>
        <p15:guide id="3" pos="6144" userDrawn="1">
          <p15:clr>
            <a:srgbClr val="A4A3A4"/>
          </p15:clr>
        </p15:guide>
        <p15:guide id="4" pos="8064" userDrawn="1">
          <p15:clr>
            <a:srgbClr val="A4A3A4"/>
          </p15:clr>
        </p15:guide>
        <p15:guide id="5" pos="336" userDrawn="1">
          <p15:clr>
            <a:srgbClr val="A4A3A4"/>
          </p15:clr>
        </p15:guide>
        <p15:guide id="6" pos="6192" userDrawn="1">
          <p15:clr>
            <a:srgbClr val="A4A3A4"/>
          </p15:clr>
        </p15:guide>
        <p15:guide id="7" pos="1632" userDrawn="1">
          <p15:clr>
            <a:srgbClr val="A4A3A4"/>
          </p15:clr>
        </p15:guide>
        <p15:guide id="8" pos="2928" userDrawn="1">
          <p15:clr>
            <a:srgbClr val="A4A3A4"/>
          </p15:clr>
        </p15:guide>
        <p15:guide id="9" pos="2280" userDrawn="1">
          <p15:clr>
            <a:srgbClr val="A4A3A4"/>
          </p15:clr>
        </p15:guide>
        <p15:guide id="10" orient="horz" pos="6040" userDrawn="1">
          <p15:clr>
            <a:srgbClr val="A4A3A4"/>
          </p15:clr>
        </p15:guide>
        <p15:guide id="11" orient="horz" pos="2004" userDrawn="1">
          <p15:clr>
            <a:srgbClr val="A4A3A4"/>
          </p15:clr>
        </p15:guide>
        <p15:guide id="12" orient="horz" pos="46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F6F4126-5831-D566-7231-C2064459B517}" name="Köster Maik" initials="KM" userId="S-1-5-21-1407016527-1594428485-911163043-18420" providerId="AD"/>
  <p188:author id="{1D11746E-EEB6-1BD7-D958-092D135101AA}" name="Sarah Gimbernau Gimenez" initials="SG" userId="3390ad5115d2cf3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D6D6D"/>
    <a:srgbClr val="7DA519"/>
    <a:srgbClr val="94C11C"/>
    <a:srgbClr val="F1F5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3440" y="524"/>
      </p:cViewPr>
      <p:guideLst>
        <p:guide orient="horz" pos="3996"/>
        <p:guide pos="4200"/>
        <p:guide pos="6144"/>
        <p:guide pos="8064"/>
        <p:guide pos="336"/>
        <p:guide pos="6192"/>
        <p:guide pos="1632"/>
        <p:guide pos="2928"/>
        <p:guide pos="2280"/>
        <p:guide orient="horz" pos="6040"/>
        <p:guide orient="horz" pos="2004"/>
        <p:guide orient="horz" pos="46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8/10/relationships/authors" Target="authors.xml"/></Relationships>
</file>

<file path=ppt/comments/modernComment_101_80705A2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F0ABA14-F012-4D8D-AE51-737A57AC7086}" authorId="{5F6F4126-5831-D566-7231-C2064459B517}" status="resolved" created="2026-04-22T10:42:03.878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154846760" sldId="257"/>
      <ac:spMk id="192" creationId="{92DE1BF3-A343-229E-10E4-6E857D2DEEE2}"/>
      <ac:txMk cp="0" len="18">
        <ac:context len="19" hash="3691353690"/>
      </ac:txMk>
    </ac:txMkLst>
    <p188:pos x="872363" y="170842"/>
    <p188:txBody>
      <a:bodyPr/>
      <a:lstStyle/>
      <a:p>
        <a:r>
          <a:rPr lang="de-AT"/>
          <a:t>Font smaller in third line?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4-22T12:04:29.176" authorId="{1D11746E-EEB6-1BD7-D958-092D135101AA}"/>
          </p223:rxn>
        </p223:reactions>
      </p:ext>
    </p188:extLst>
  </p188:cm>
  <p188:cm id="{A1890167-7E0E-460D-86C8-CC50AE917578}" authorId="{5F6F4126-5831-D566-7231-C2064459B517}" created="2026-04-22T10:42:56.97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154846760" sldId="257"/>
      <ac:spMk id="145" creationId="{00000000-0000-0000-0000-000000000000}"/>
      <ac:txMk cp="0" len="32">
        <ac:context len="33" hash="1486588736"/>
      </ac:txMk>
    </ac:txMkLst>
    <p188:pos x="1459992" y="167686"/>
    <p188:txBody>
      <a:bodyPr/>
      <a:lstStyle/>
      <a:p>
        <a:r>
          <a:rPr lang="de-AT"/>
          <a:t>Better in a single textunit</a:t>
        </a:r>
      </a:p>
    </p188:txBody>
  </p188:cm>
  <p188:cm id="{A19EB54B-64F4-4298-85BC-2CC66C36E944}" authorId="{5F6F4126-5831-D566-7231-C2064459B517}" created="2026-04-22T10:43:45.10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154846760" sldId="257"/>
      <ac:spMk id="133" creationId="{00000000-0000-0000-0000-000000000000}"/>
      <ac:txMk cp="210" len="5">
        <ac:context len="217" hash="3802142783"/>
      </ac:txMk>
    </ac:txMkLst>
    <p188:pos x="525307" y="827262"/>
    <p188:txBody>
      <a:bodyPr/>
      <a:lstStyle/>
      <a:p>
        <a:r>
          <a:rPr lang="de-AT"/>
          <a:t>Add a link or QR code?</a:t>
        </a:r>
      </a:p>
    </p188:txBody>
  </p188:cm>
  <p188:cm id="{CA077016-8D00-4A5F-9886-63BE791EF70B}" authorId="{5F6F4126-5831-D566-7231-C2064459B517}" created="2026-04-22T11:07:00.97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154846760" sldId="257"/>
      <ac:spMk id="239" creationId="{BD8DED81-05DA-9F31-33EE-1CCEA3B91965}"/>
      <ac:txMk cp="0" len="98">
        <ac:context len="99" hash="2699479582"/>
      </ac:txMk>
    </ac:txMkLst>
    <p188:txBody>
      <a:bodyPr/>
      <a:lstStyle/>
      <a:p>
        <a:r>
          <a:rPr lang="de-AT"/>
          <a:t>Wrong description</a:t>
        </a:r>
      </a:p>
    </p188:txBody>
  </p188:cm>
  <p188:cm id="{F6D68214-C868-4E47-9F42-BFDB8B8B038A}" authorId="{5F6F4126-5831-D566-7231-C2064459B517}" status="resolved" created="2026-04-22T11:15:45.248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154846760" sldId="257"/>
      <ac:spMk id="224" creationId="{AC2B9F89-11B6-0974-0060-C2FBA8B802AE}"/>
      <ac:txMk cp="0" len="128">
        <ac:context len="129" hash="3634727073"/>
      </ac:txMk>
    </ac:txMkLst>
    <p188:pos x="5056775" y="149860"/>
    <p188:txBody>
      <a:bodyPr/>
      <a:lstStyle/>
      <a:p>
        <a:r>
          <a:rPr lang="de-AT"/>
          <a:t>English</a:t>
        </a:r>
      </a:p>
    </p188:txBody>
  </p188:cm>
  <p188:cm id="{D2CD2D45-0F62-4825-AC93-9146AA758E66}" authorId="{5F6F4126-5831-D566-7231-C2064459B517}" status="resolved" created="2026-04-22T11:20:48.366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154846760" sldId="257"/>
      <ac:spMk id="212" creationId="{D810DC29-1DEF-109E-02DA-ED9B77E87231}"/>
      <ac:txMk cp="0" len="82">
        <ac:context len="83" hash="3911562293"/>
      </ac:txMk>
    </ac:txMkLst>
    <p188:txBody>
      <a:bodyPr/>
      <a:lstStyle/>
      <a:p>
        <a:r>
          <a:rPr lang="de-AT"/>
          <a:t>I would delete the entire "Satzmodelle" bit because it's entirely subsumed under "harmony" and the sentence would be completely meaningless to 99% of people.</a:t>
        </a:r>
      </a:p>
    </p188:txBody>
  </p188:cm>
  <p188:cm id="{6761AD59-3C1D-4E27-9039-5BBD61BD1B68}" authorId="{5F6F4126-5831-D566-7231-C2064459B517}" created="2026-04-22T11:45:59.456">
    <pc:sldMkLst xmlns:pc="http://schemas.microsoft.com/office/powerpoint/2013/main/command">
      <pc:docMk/>
      <pc:sldMk cId="2154846760" sldId="257"/>
    </pc:sldMkLst>
    <p188:txBody>
      <a:bodyPr/>
      <a:lstStyle/>
      <a:p>
        <a:r>
          <a:rPr lang="de-AT"/>
          <a:t>This reads a little bit weird but I don't know how to fix it. Just because the computer is an active agent and the focus seems to be on machine-human interaction</a:t>
        </a:r>
      </a:p>
    </p188:txBody>
  </p188:cm>
  <p188:cm id="{A55AE6DF-9EC5-4CD1-A36F-95D338F79774}" authorId="{5F6F4126-5831-D566-7231-C2064459B517}" status="resolved" created="2026-04-22T11:46:58.528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154846760" sldId="257"/>
      <ac:spMk id="63" creationId="{00000000-0000-0000-0000-000000000000}"/>
      <ac:txMk cp="61">
        <ac:context len="118" hash="2179417902"/>
      </ac:txMk>
    </ac:txMkLst>
    <p188:pos x="2606040" y="146032"/>
    <p188:txBody>
      <a:bodyPr/>
      <a:lstStyle/>
      <a:p>
        <a:r>
          <a:rPr lang="de-AT"/>
          <a:t>Can we use Chorus here? I know germans confuse the two terms but we are trying to be precise after all 😉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200DAA0-674E-E5B7-7704-3E68F53C11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9068118" cy="734854"/>
          </a:xfrm>
          <a:prstGeom prst="rect">
            <a:avLst/>
          </a:prstGeom>
        </p:spPr>
        <p:txBody>
          <a:bodyPr vert="horz" lIns="101078" tIns="50539" rIns="101078" bIns="50539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367845E-D22D-957C-11BD-90F95A570E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1853023" y="0"/>
            <a:ext cx="9068118" cy="734854"/>
          </a:xfrm>
          <a:prstGeom prst="rect">
            <a:avLst/>
          </a:prstGeom>
        </p:spPr>
        <p:txBody>
          <a:bodyPr vert="horz" lIns="101078" tIns="50539" rIns="101078" bIns="50539" rtlCol="0"/>
          <a:lstStyle>
            <a:lvl1pPr algn="r">
              <a:defRPr sz="1300"/>
            </a:lvl1pPr>
          </a:lstStyle>
          <a:p>
            <a:fld id="{48264885-E252-41D9-B5AE-D1961E4C13B1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19CAC20-B356-06EA-547C-8C4B2C75314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927298"/>
            <a:ext cx="9068118" cy="734852"/>
          </a:xfrm>
          <a:prstGeom prst="rect">
            <a:avLst/>
          </a:prstGeom>
        </p:spPr>
        <p:txBody>
          <a:bodyPr vert="horz" lIns="101078" tIns="50539" rIns="101078" bIns="50539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F62BDA4-58CF-7BC9-0979-B9A6A2B291D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1853023" y="13927298"/>
            <a:ext cx="9068118" cy="734852"/>
          </a:xfrm>
          <a:prstGeom prst="rect">
            <a:avLst/>
          </a:prstGeom>
        </p:spPr>
        <p:txBody>
          <a:bodyPr vert="horz" lIns="101078" tIns="50539" rIns="101078" bIns="50539" rtlCol="0" anchor="b"/>
          <a:lstStyle>
            <a:lvl1pPr algn="r">
              <a:defRPr sz="1300"/>
            </a:lvl1pPr>
          </a:lstStyle>
          <a:p>
            <a:fld id="{B4881DD8-D260-4D08-8A5C-7B24E285C84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01619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984928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1078" tIns="50539" rIns="101078" bIns="50539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microsoft.com/office/2018/10/relationships/comments" Target="../comments/modernComment_101_80705A28.xml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image" Target="../media/image1.jpe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3"/>
          <p:cNvSpPr/>
          <p:nvPr/>
        </p:nvSpPr>
        <p:spPr>
          <a:xfrm>
            <a:off x="569911" y="7317123"/>
            <a:ext cx="1985963" cy="2641600"/>
          </a:xfrm>
          <a:prstGeom prst="rect">
            <a:avLst/>
          </a:prstGeom>
          <a:solidFill>
            <a:srgbClr val="F1F5E3"/>
          </a:solidFill>
          <a:ln w="9525">
            <a:solidFill>
              <a:srgbClr val="94C1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3335000" cy="18859500"/>
          </a:xfrm>
          <a:prstGeom prst="rect">
            <a:avLst/>
          </a:prstGeom>
          <a:ln/>
          <a:effectLst>
            <a:outerShdw blurRad="762000" dist="28575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258800" y="0"/>
            <a:ext cx="76200" cy="18859500"/>
          </a:xfrm>
          <a:prstGeom prst="rect">
            <a:avLst/>
          </a:prstGeom>
          <a:solidFill>
            <a:srgbClr val="94C1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3006426"/>
            <a:ext cx="1333500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58650" y="209550"/>
            <a:ext cx="742950" cy="133921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33400" y="1319548"/>
            <a:ext cx="648398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750" b="1" kern="0" spc="-37" dirty="0">
                <a:solidFill>
                  <a:srgbClr val="1A1A1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Wie kann man den </a:t>
            </a:r>
            <a:r>
              <a:rPr lang="en-US" sz="3800" b="1" kern="0" spc="-37" dirty="0">
                <a:solidFill>
                  <a:srgbClr val="7DA519"/>
                </a:solidFill>
                <a:latin typeface="Barlow Condensed" pitchFamily="34" charset="0"/>
              </a:rPr>
              <a:t>Aufbau </a:t>
            </a:r>
            <a:r>
              <a:rPr lang="en-US" sz="3750" b="1" kern="0" spc="-37" dirty="0">
                <a:solidFill>
                  <a:srgbClr val="1A1A1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jedes Musikstücks </a:t>
            </a:r>
            <a:r>
              <a:rPr lang="en-US" sz="3750" b="1" kern="0" spc="-37" dirty="0">
                <a:solidFill>
                  <a:srgbClr val="7DA519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digital modellieren</a:t>
            </a:r>
            <a:r>
              <a:rPr lang="en-US" sz="3750" b="1" kern="0" spc="-37" dirty="0">
                <a:solidFill>
                  <a:srgbClr val="1A1A1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?</a:t>
            </a:r>
            <a:endParaRPr lang="en-US" sz="3750" b="1" dirty="0"/>
          </a:p>
        </p:txBody>
      </p:sp>
      <p:sp>
        <p:nvSpPr>
          <p:cNvPr id="14" name="Text 11"/>
          <p:cNvSpPr/>
          <p:nvPr/>
        </p:nvSpPr>
        <p:spPr>
          <a:xfrm>
            <a:off x="533400" y="2367298"/>
            <a:ext cx="9768067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88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 </a:t>
            </a:r>
            <a:r>
              <a:rPr lang="en-US" sz="1088" b="1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Klassik</a:t>
            </a:r>
            <a:r>
              <a:rPr lang="en-US" sz="1088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088" b="1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Pop</a:t>
            </a:r>
            <a:r>
              <a:rPr lang="en-US" sz="1088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088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oder</a:t>
            </a:r>
            <a:r>
              <a:rPr lang="en-US" sz="1088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088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Techno</a:t>
            </a:r>
            <a:r>
              <a:rPr lang="en-US" sz="1088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— </a:t>
            </a:r>
            <a:r>
              <a:rPr lang="en-US" sz="1088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jedes</a:t>
            </a:r>
            <a:r>
              <a:rPr lang="en-US" sz="1088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Stück hat </a:t>
            </a:r>
            <a:r>
              <a:rPr lang="en-US" sz="1088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eine</a:t>
            </a:r>
            <a:r>
              <a:rPr lang="en-US" sz="1088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088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Form</a:t>
            </a:r>
            <a:r>
              <a:rPr lang="en-US" sz="1088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</a:t>
            </a:r>
            <a:r>
              <a:rPr lang="en-US" sz="1088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</a:t>
            </a:r>
            <a:r>
              <a:rPr lang="en-US" sz="1088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088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Forschungsprojekt</a:t>
            </a:r>
            <a:r>
              <a:rPr lang="en-US" sz="1088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“Towards a Unified Model of Musical Form” (2024-2028) </a:t>
            </a:r>
            <a:r>
              <a:rPr lang="en-US" sz="1088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entwickeln</a:t>
            </a:r>
            <a:r>
              <a:rPr lang="en-US" sz="1088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088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wir</a:t>
            </a:r>
            <a:r>
              <a:rPr lang="en-US" sz="1088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088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ein</a:t>
            </a:r>
            <a:r>
              <a:rPr lang="en-US" sz="1088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088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allgemeines</a:t>
            </a:r>
            <a:r>
              <a:rPr lang="en-US" sz="1088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Modell von Form, </a:t>
            </a:r>
            <a:r>
              <a:rPr lang="en-US" sz="1088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mit</a:t>
            </a:r>
            <a:r>
              <a:rPr lang="en-US" sz="1088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dem Menschen und Computer Musik </a:t>
            </a:r>
            <a:r>
              <a:rPr lang="en-US" sz="1088" b="1" dirty="0" err="1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analysieren</a:t>
            </a:r>
            <a:r>
              <a:rPr lang="en-US" sz="1088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088" b="1" dirty="0" err="1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vergleichen</a:t>
            </a:r>
            <a:r>
              <a:rPr lang="en-US" sz="1088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088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und </a:t>
            </a:r>
            <a:r>
              <a:rPr lang="en-US" sz="1088" b="1" dirty="0" err="1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erzeugen</a:t>
            </a:r>
            <a:r>
              <a:rPr lang="en-US" sz="1088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088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können</a:t>
            </a:r>
            <a:r>
              <a:rPr lang="en-US" sz="1088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088" dirty="0"/>
          </a:p>
        </p:txBody>
      </p:sp>
      <p:sp>
        <p:nvSpPr>
          <p:cNvPr id="35" name="Text 31"/>
          <p:cNvSpPr/>
          <p:nvPr/>
        </p:nvSpPr>
        <p:spPr>
          <a:xfrm>
            <a:off x="533400" y="6495433"/>
            <a:ext cx="380624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kern="0" spc="-8" dirty="0">
                <a:solidFill>
                  <a:srgbClr val="1A1A1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Form als Zusammenspiel musikalischer Domänen</a:t>
            </a:r>
            <a:endParaRPr lang="en-US" sz="1650" dirty="0"/>
          </a:p>
        </p:txBody>
      </p:sp>
      <p:sp>
        <p:nvSpPr>
          <p:cNvPr id="36" name="Text 32"/>
          <p:cNvSpPr/>
          <p:nvPr/>
        </p:nvSpPr>
        <p:spPr>
          <a:xfrm>
            <a:off x="533401" y="6840396"/>
            <a:ext cx="5924550" cy="391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Formale</a:t>
            </a:r>
            <a:r>
              <a:rPr lang="en-US" sz="8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800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Struktur</a:t>
            </a:r>
            <a:r>
              <a:rPr lang="en-US" sz="8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800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entsteht</a:t>
            </a:r>
            <a:r>
              <a:rPr lang="en-US" sz="8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nicht </a:t>
            </a:r>
            <a:r>
              <a:rPr lang="en-US" sz="800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aus</a:t>
            </a:r>
            <a:r>
              <a:rPr lang="en-US" sz="8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800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sich</a:t>
            </a:r>
            <a:r>
              <a:rPr lang="en-US" sz="8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800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selbst</a:t>
            </a:r>
            <a:r>
              <a:rPr lang="en-US" sz="8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800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heraus</a:t>
            </a:r>
            <a:r>
              <a:rPr lang="en-US" sz="8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800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sondern</a:t>
            </a:r>
            <a:r>
              <a:rPr lang="en-US" sz="8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800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aus</a:t>
            </a:r>
            <a:r>
              <a:rPr lang="en-US" sz="8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dem </a:t>
            </a:r>
            <a:r>
              <a:rPr lang="en-US" sz="800" b="1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Zusammenspiel</a:t>
            </a:r>
            <a:r>
              <a:rPr lang="en-US" sz="800" b="1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800" b="1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mehrerer</a:t>
            </a:r>
            <a:r>
              <a:rPr lang="en-US" sz="800" b="1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800" b="1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Strukturdomänen</a:t>
            </a:r>
            <a:r>
              <a:rPr lang="en-US" sz="8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</a:t>
            </a:r>
            <a:r>
              <a:rPr lang="en-US" sz="800" b="1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8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für die </a:t>
            </a:r>
            <a:r>
              <a:rPr lang="en-US" sz="800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wir</a:t>
            </a:r>
            <a:r>
              <a:rPr lang="en-US" sz="8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Modelle </a:t>
            </a:r>
            <a:r>
              <a:rPr lang="en-US" sz="800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konstruieren</a:t>
            </a:r>
            <a:r>
              <a:rPr lang="en-US" sz="8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</a:t>
            </a:r>
            <a:r>
              <a:rPr lang="en-US" sz="800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Zum</a:t>
            </a:r>
            <a:r>
              <a:rPr lang="en-US" sz="8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800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Beispiel</a:t>
            </a:r>
            <a:r>
              <a:rPr lang="en-US" sz="8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697548" y="7395386"/>
            <a:ext cx="266700" cy="266700"/>
          </a:xfrm>
          <a:prstGeom prst="rect">
            <a:avLst/>
          </a:prstGeom>
          <a:solidFill>
            <a:srgbClr val="94C11C"/>
          </a:solidFill>
          <a:ln w="19050">
            <a:solidFill>
              <a:srgbClr val="7DA5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672148" y="7395386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660400" y="7724743"/>
            <a:ext cx="1798318" cy="1879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Textur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672148" y="7964771"/>
            <a:ext cx="1839592" cy="276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25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Texturwechsel</a:t>
            </a:r>
            <a:r>
              <a:rPr lang="en-US" sz="825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825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geben</a:t>
            </a:r>
            <a:r>
              <a:rPr lang="en-US" sz="825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825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Aufschluss</a:t>
            </a:r>
            <a:r>
              <a:rPr lang="en-US" sz="825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825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über</a:t>
            </a:r>
            <a:r>
              <a:rPr lang="en-US" sz="825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825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formale</a:t>
            </a:r>
            <a:r>
              <a:rPr lang="en-US" sz="825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825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Unterschiede</a:t>
            </a:r>
            <a:r>
              <a:rPr lang="en-US" sz="825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825" dirty="0"/>
          </a:p>
        </p:txBody>
      </p:sp>
      <p:sp>
        <p:nvSpPr>
          <p:cNvPr id="42" name="Text 38"/>
          <p:cNvSpPr/>
          <p:nvPr/>
        </p:nvSpPr>
        <p:spPr>
          <a:xfrm>
            <a:off x="660399" y="8220676"/>
            <a:ext cx="1701679" cy="2624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50" kern="0" spc="75" dirty="0">
                <a:solidFill>
                  <a:srgbClr val="7DA51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PAPER · ISMIR 2026</a:t>
            </a:r>
            <a:endParaRPr lang="en-US" sz="750" dirty="0"/>
          </a:p>
        </p:txBody>
      </p:sp>
      <p:sp>
        <p:nvSpPr>
          <p:cNvPr id="43" name="Shape 39"/>
          <p:cNvSpPr/>
          <p:nvPr/>
        </p:nvSpPr>
        <p:spPr>
          <a:xfrm>
            <a:off x="4688014" y="7326032"/>
            <a:ext cx="1874711" cy="2656505"/>
          </a:xfrm>
          <a:prstGeom prst="rect">
            <a:avLst/>
          </a:prstGeom>
          <a:solidFill>
            <a:srgbClr val="F1F5E3"/>
          </a:solidFill>
          <a:ln w="9525">
            <a:solidFill>
              <a:srgbClr val="94C1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3"/>
          <p:cNvSpPr/>
          <p:nvPr/>
        </p:nvSpPr>
        <p:spPr>
          <a:xfrm>
            <a:off x="4755187" y="7964771"/>
            <a:ext cx="1478891" cy="270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>
              <a:lnSpc>
                <a:spcPct val="130000"/>
              </a:lnSpc>
            </a:pPr>
            <a:r>
              <a:rPr lang="de-DE" sz="900" dirty="0"/>
              <a:t>Motivische Wiederkehr prägt unsere Wahrnehmung von Gruppierungsstrukturen.</a:t>
            </a:r>
            <a:endParaRPr lang="en-US" sz="825" dirty="0"/>
          </a:p>
        </p:txBody>
      </p:sp>
      <p:sp>
        <p:nvSpPr>
          <p:cNvPr id="62" name="Text 57"/>
          <p:cNvSpPr/>
          <p:nvPr/>
        </p:nvSpPr>
        <p:spPr>
          <a:xfrm>
            <a:off x="533400" y="10192403"/>
            <a:ext cx="304198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kern="0" spc="-8" dirty="0">
                <a:solidFill>
                  <a:srgbClr val="1A1A1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Formale Kategorien und ihre Relationen</a:t>
            </a:r>
            <a:endParaRPr lang="en-US" sz="1650" dirty="0"/>
          </a:p>
        </p:txBody>
      </p:sp>
      <p:sp>
        <p:nvSpPr>
          <p:cNvPr id="63" name="Text 58"/>
          <p:cNvSpPr/>
          <p:nvPr/>
        </p:nvSpPr>
        <p:spPr>
          <a:xfrm>
            <a:off x="533400" y="10623568"/>
            <a:ext cx="621020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38" dirty="0" err="1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Welche</a:t>
            </a:r>
            <a:r>
              <a:rPr lang="en-US" sz="938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938" b="1" dirty="0" err="1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formale</a:t>
            </a:r>
            <a:r>
              <a:rPr lang="en-US" sz="938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938" b="1" dirty="0" err="1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Kategorien</a:t>
            </a:r>
            <a:r>
              <a:rPr lang="en-US" sz="938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938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gibt es </a:t>
            </a:r>
            <a:r>
              <a:rPr lang="en-US" sz="938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(</a:t>
            </a:r>
            <a:r>
              <a:rPr lang="en-US" sz="938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z.B.</a:t>
            </a:r>
            <a:r>
              <a:rPr lang="en-US" sz="938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Intro, Strophe, Chorus, Bridge) — und </a:t>
            </a:r>
            <a:r>
              <a:rPr lang="en-US" sz="938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durch</a:t>
            </a:r>
            <a:r>
              <a:rPr lang="en-US" sz="938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938" dirty="0" err="1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welche</a:t>
            </a:r>
            <a:r>
              <a:rPr lang="en-US" sz="938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938" b="1" dirty="0" err="1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Regeln</a:t>
            </a:r>
            <a:r>
              <a:rPr lang="en-US" sz="938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938" dirty="0" err="1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sind</a:t>
            </a:r>
            <a:r>
              <a:rPr lang="en-US" sz="938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938" dirty="0" err="1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sie</a:t>
            </a:r>
            <a:r>
              <a:rPr lang="en-US" sz="938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938" dirty="0" err="1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verbunden</a:t>
            </a:r>
            <a:r>
              <a:rPr lang="en-US" sz="938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?</a:t>
            </a:r>
            <a:endParaRPr lang="en-US" sz="938" dirty="0"/>
          </a:p>
        </p:txBody>
      </p:sp>
      <p:sp>
        <p:nvSpPr>
          <p:cNvPr id="64" name="Shape 59"/>
          <p:cNvSpPr/>
          <p:nvPr/>
        </p:nvSpPr>
        <p:spPr>
          <a:xfrm>
            <a:off x="533400" y="10847406"/>
            <a:ext cx="6029325" cy="1739741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0"/>
          <p:cNvSpPr/>
          <p:nvPr/>
        </p:nvSpPr>
        <p:spPr>
          <a:xfrm>
            <a:off x="638175" y="10952181"/>
            <a:ext cx="479743" cy="247650"/>
          </a:xfrm>
          <a:prstGeom prst="rect">
            <a:avLst/>
          </a:prstGeom>
          <a:solidFill>
            <a:srgbClr val="9FB8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1"/>
          <p:cNvSpPr/>
          <p:nvPr/>
        </p:nvSpPr>
        <p:spPr>
          <a:xfrm>
            <a:off x="638175" y="11009331"/>
            <a:ext cx="47974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750" kern="0" spc="45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INTRO</a:t>
            </a:r>
            <a:endParaRPr lang="en-US" sz="750" dirty="0"/>
          </a:p>
        </p:txBody>
      </p:sp>
      <p:sp>
        <p:nvSpPr>
          <p:cNvPr id="67" name="Shape 62"/>
          <p:cNvSpPr/>
          <p:nvPr/>
        </p:nvSpPr>
        <p:spPr>
          <a:xfrm>
            <a:off x="1146493" y="10952181"/>
            <a:ext cx="890905" cy="247650"/>
          </a:xfrm>
          <a:prstGeom prst="rect">
            <a:avLst/>
          </a:prstGeom>
          <a:solidFill>
            <a:srgbClr val="D7B5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3"/>
          <p:cNvSpPr/>
          <p:nvPr/>
        </p:nvSpPr>
        <p:spPr>
          <a:xfrm>
            <a:off x="1146493" y="11009331"/>
            <a:ext cx="89090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750" kern="0" spc="45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STROPHE</a:t>
            </a:r>
            <a:endParaRPr lang="en-US" sz="750" dirty="0"/>
          </a:p>
        </p:txBody>
      </p:sp>
      <p:sp>
        <p:nvSpPr>
          <p:cNvPr id="69" name="Shape 64"/>
          <p:cNvSpPr/>
          <p:nvPr/>
        </p:nvSpPr>
        <p:spPr>
          <a:xfrm>
            <a:off x="2065972" y="10952181"/>
            <a:ext cx="753904" cy="247650"/>
          </a:xfrm>
          <a:prstGeom prst="rect">
            <a:avLst/>
          </a:prstGeom>
          <a:solidFill>
            <a:srgbClr val="7DA5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5"/>
          <p:cNvSpPr/>
          <p:nvPr/>
        </p:nvSpPr>
        <p:spPr>
          <a:xfrm>
            <a:off x="2065972" y="11009331"/>
            <a:ext cx="75390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750" kern="0" spc="45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CHORUS</a:t>
            </a:r>
            <a:endParaRPr lang="en-US" sz="750" dirty="0"/>
          </a:p>
        </p:txBody>
      </p:sp>
      <p:sp>
        <p:nvSpPr>
          <p:cNvPr id="71" name="Shape 66"/>
          <p:cNvSpPr/>
          <p:nvPr/>
        </p:nvSpPr>
        <p:spPr>
          <a:xfrm>
            <a:off x="2848451" y="10952181"/>
            <a:ext cx="890905" cy="247650"/>
          </a:xfrm>
          <a:prstGeom prst="rect">
            <a:avLst/>
          </a:prstGeom>
          <a:solidFill>
            <a:srgbClr val="D7B5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7"/>
          <p:cNvSpPr/>
          <p:nvPr/>
        </p:nvSpPr>
        <p:spPr>
          <a:xfrm>
            <a:off x="2848451" y="11009331"/>
            <a:ext cx="89090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750" kern="0" spc="45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STROPHE</a:t>
            </a:r>
            <a:endParaRPr lang="en-US" sz="750" dirty="0"/>
          </a:p>
        </p:txBody>
      </p:sp>
      <p:sp>
        <p:nvSpPr>
          <p:cNvPr id="73" name="Shape 68"/>
          <p:cNvSpPr/>
          <p:nvPr/>
        </p:nvSpPr>
        <p:spPr>
          <a:xfrm>
            <a:off x="3767931" y="10952181"/>
            <a:ext cx="753904" cy="247650"/>
          </a:xfrm>
          <a:prstGeom prst="rect">
            <a:avLst/>
          </a:prstGeom>
          <a:solidFill>
            <a:srgbClr val="7DA5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69"/>
          <p:cNvSpPr/>
          <p:nvPr/>
        </p:nvSpPr>
        <p:spPr>
          <a:xfrm>
            <a:off x="3767931" y="11009331"/>
            <a:ext cx="75390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750" kern="0" spc="45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CHORUS</a:t>
            </a:r>
            <a:endParaRPr lang="en-US" sz="750" dirty="0"/>
          </a:p>
        </p:txBody>
      </p:sp>
      <p:sp>
        <p:nvSpPr>
          <p:cNvPr id="75" name="Shape 70"/>
          <p:cNvSpPr/>
          <p:nvPr/>
        </p:nvSpPr>
        <p:spPr>
          <a:xfrm>
            <a:off x="4550410" y="10952181"/>
            <a:ext cx="616744" cy="247650"/>
          </a:xfrm>
          <a:prstGeom prst="rect">
            <a:avLst/>
          </a:prstGeom>
          <a:solidFill>
            <a:srgbClr val="B47C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1"/>
          <p:cNvSpPr/>
          <p:nvPr/>
        </p:nvSpPr>
        <p:spPr>
          <a:xfrm>
            <a:off x="4550410" y="11009331"/>
            <a:ext cx="61674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750" kern="0" spc="45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BRIDGE/SOLO</a:t>
            </a:r>
            <a:endParaRPr lang="en-US" sz="750" dirty="0"/>
          </a:p>
        </p:txBody>
      </p:sp>
      <p:sp>
        <p:nvSpPr>
          <p:cNvPr id="77" name="Shape 72"/>
          <p:cNvSpPr/>
          <p:nvPr/>
        </p:nvSpPr>
        <p:spPr>
          <a:xfrm>
            <a:off x="5195729" y="10952181"/>
            <a:ext cx="753904" cy="247650"/>
          </a:xfrm>
          <a:prstGeom prst="rect">
            <a:avLst/>
          </a:prstGeom>
          <a:solidFill>
            <a:srgbClr val="7DA5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3"/>
          <p:cNvSpPr/>
          <p:nvPr/>
        </p:nvSpPr>
        <p:spPr>
          <a:xfrm>
            <a:off x="5195729" y="11009331"/>
            <a:ext cx="75390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750" kern="0" spc="45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CHORUS</a:t>
            </a:r>
            <a:endParaRPr lang="en-US" sz="750" dirty="0"/>
          </a:p>
        </p:txBody>
      </p:sp>
      <p:sp>
        <p:nvSpPr>
          <p:cNvPr id="79" name="Shape 74"/>
          <p:cNvSpPr/>
          <p:nvPr/>
        </p:nvSpPr>
        <p:spPr>
          <a:xfrm>
            <a:off x="5978207" y="10952181"/>
            <a:ext cx="479743" cy="247650"/>
          </a:xfrm>
          <a:prstGeom prst="rect">
            <a:avLst/>
          </a:prstGeom>
          <a:solidFill>
            <a:srgbClr val="9FB8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5"/>
          <p:cNvSpPr/>
          <p:nvPr/>
        </p:nvSpPr>
        <p:spPr>
          <a:xfrm>
            <a:off x="5978207" y="11009331"/>
            <a:ext cx="47974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750" kern="0" spc="45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OUTRO</a:t>
            </a:r>
            <a:endParaRPr lang="en-US" sz="750" dirty="0"/>
          </a:p>
        </p:txBody>
      </p:sp>
      <p:sp>
        <p:nvSpPr>
          <p:cNvPr id="81" name="Shape 76"/>
          <p:cNvSpPr/>
          <p:nvPr/>
        </p:nvSpPr>
        <p:spPr>
          <a:xfrm>
            <a:off x="638175" y="11276031"/>
            <a:ext cx="479743" cy="160020"/>
          </a:xfrm>
          <a:prstGeom prst="rect">
            <a:avLst/>
          </a:prstGeom>
          <a:solidFill>
            <a:srgbClr val="CFDB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77"/>
          <p:cNvSpPr/>
          <p:nvPr/>
        </p:nvSpPr>
        <p:spPr>
          <a:xfrm>
            <a:off x="1146493" y="11276031"/>
            <a:ext cx="890905" cy="297021"/>
          </a:xfrm>
          <a:prstGeom prst="rect">
            <a:avLst/>
          </a:prstGeom>
          <a:solidFill>
            <a:srgbClr val="CFDB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78"/>
          <p:cNvSpPr/>
          <p:nvPr/>
        </p:nvSpPr>
        <p:spPr>
          <a:xfrm>
            <a:off x="2065972" y="11276031"/>
            <a:ext cx="753904" cy="525780"/>
          </a:xfrm>
          <a:prstGeom prst="rect">
            <a:avLst/>
          </a:prstGeom>
          <a:solidFill>
            <a:srgbClr val="7DA5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79"/>
          <p:cNvSpPr/>
          <p:nvPr/>
        </p:nvSpPr>
        <p:spPr>
          <a:xfrm>
            <a:off x="2848451" y="11276031"/>
            <a:ext cx="890905" cy="331470"/>
          </a:xfrm>
          <a:prstGeom prst="rect">
            <a:avLst/>
          </a:prstGeom>
          <a:solidFill>
            <a:srgbClr val="CFDB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80"/>
          <p:cNvSpPr/>
          <p:nvPr/>
        </p:nvSpPr>
        <p:spPr>
          <a:xfrm>
            <a:off x="3767931" y="11276031"/>
            <a:ext cx="753904" cy="537210"/>
          </a:xfrm>
          <a:prstGeom prst="rect">
            <a:avLst/>
          </a:prstGeom>
          <a:solidFill>
            <a:srgbClr val="7DA5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Shape 81"/>
          <p:cNvSpPr/>
          <p:nvPr/>
        </p:nvSpPr>
        <p:spPr>
          <a:xfrm>
            <a:off x="4550410" y="11276031"/>
            <a:ext cx="616744" cy="217170"/>
          </a:xfrm>
          <a:prstGeom prst="rect">
            <a:avLst/>
          </a:prstGeom>
          <a:solidFill>
            <a:srgbClr val="B47C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Shape 82"/>
          <p:cNvSpPr/>
          <p:nvPr/>
        </p:nvSpPr>
        <p:spPr>
          <a:xfrm>
            <a:off x="5195729" y="11276031"/>
            <a:ext cx="753904" cy="571500"/>
          </a:xfrm>
          <a:prstGeom prst="rect">
            <a:avLst/>
          </a:prstGeom>
          <a:solidFill>
            <a:srgbClr val="7DA51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Shape 83"/>
          <p:cNvSpPr/>
          <p:nvPr/>
        </p:nvSpPr>
        <p:spPr>
          <a:xfrm>
            <a:off x="5978207" y="11276031"/>
            <a:ext cx="479743" cy="125730"/>
          </a:xfrm>
          <a:prstGeom prst="rect">
            <a:avLst/>
          </a:prstGeom>
          <a:solidFill>
            <a:srgbClr val="CFDB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4"/>
          <p:cNvSpPr/>
          <p:nvPr/>
        </p:nvSpPr>
        <p:spPr>
          <a:xfrm>
            <a:off x="1412557" y="11592895"/>
            <a:ext cx="358775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675" kern="0" spc="41" dirty="0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leise</a:t>
            </a:r>
            <a:endParaRPr lang="en-US" sz="675" dirty="0"/>
          </a:p>
        </p:txBody>
      </p:sp>
      <p:sp>
        <p:nvSpPr>
          <p:cNvPr id="90" name="Text 85"/>
          <p:cNvSpPr/>
          <p:nvPr/>
        </p:nvSpPr>
        <p:spPr>
          <a:xfrm>
            <a:off x="2122964" y="11814431"/>
            <a:ext cx="754380" cy="15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675" b="1" kern="0" spc="41" dirty="0" err="1">
                <a:solidFill>
                  <a:srgbClr val="7DA51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laut</a:t>
            </a:r>
            <a:r>
              <a:rPr lang="en-US" sz="675" b="1" kern="0" spc="41" dirty="0">
                <a:solidFill>
                  <a:srgbClr val="7DA51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· </a:t>
            </a:r>
            <a:r>
              <a:rPr lang="en-US" sz="675" b="1" kern="0" spc="41" dirty="0" err="1">
                <a:solidFill>
                  <a:srgbClr val="7DA51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dicht</a:t>
            </a:r>
            <a:endParaRPr lang="en-US" sz="675" dirty="0"/>
          </a:p>
        </p:txBody>
      </p:sp>
      <p:sp>
        <p:nvSpPr>
          <p:cNvPr id="91" name="Shape 86"/>
          <p:cNvSpPr/>
          <p:nvPr/>
        </p:nvSpPr>
        <p:spPr>
          <a:xfrm>
            <a:off x="638175" y="12100896"/>
            <a:ext cx="5819775" cy="9525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87"/>
          <p:cNvSpPr/>
          <p:nvPr/>
        </p:nvSpPr>
        <p:spPr>
          <a:xfrm>
            <a:off x="1127443" y="12167571"/>
            <a:ext cx="929005" cy="333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087"/>
              </a:lnSpc>
              <a:buNone/>
            </a:pPr>
            <a:r>
              <a:rPr lang="en-US" sz="713" i="1" dirty="0">
                <a:solidFill>
                  <a:srgbClr val="6D6D6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„She was a fast machine…"</a:t>
            </a:r>
            <a:endParaRPr lang="en-US" sz="713" dirty="0"/>
          </a:p>
        </p:txBody>
      </p:sp>
      <p:sp>
        <p:nvSpPr>
          <p:cNvPr id="93" name="Shape 88"/>
          <p:cNvSpPr/>
          <p:nvPr/>
        </p:nvSpPr>
        <p:spPr>
          <a:xfrm>
            <a:off x="2065972" y="12148521"/>
            <a:ext cx="753904" cy="333851"/>
          </a:xfrm>
          <a:prstGeom prst="rect">
            <a:avLst/>
          </a:prstGeom>
          <a:solidFill>
            <a:srgbClr val="F1F5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89"/>
          <p:cNvSpPr/>
          <p:nvPr/>
        </p:nvSpPr>
        <p:spPr>
          <a:xfrm>
            <a:off x="2046922" y="12167571"/>
            <a:ext cx="792004" cy="333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lnSpc>
                <a:spcPct val="115087"/>
              </a:lnSpc>
              <a:buNone/>
            </a:pPr>
            <a:r>
              <a:rPr lang="en-US" sz="713" b="1" dirty="0">
                <a:solidFill>
                  <a:srgbClr val="7DA519"/>
                </a:solidFill>
                <a:highlight>
                  <a:srgbClr val="F1F5E3"/>
                </a:highlight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„</a:t>
            </a:r>
            <a:r>
              <a:rPr lang="en-US" sz="713" b="1" dirty="0">
                <a:highlight>
                  <a:srgbClr val="F1F5E3"/>
                </a:highlight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And you,  </a:t>
            </a:r>
            <a:r>
              <a:rPr lang="en-US" sz="713" b="1" dirty="0">
                <a:solidFill>
                  <a:srgbClr val="7DA519"/>
                </a:solidFill>
                <a:highlight>
                  <a:srgbClr val="F1F5E3"/>
                </a:highlight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shook me all night long!"</a:t>
            </a:r>
            <a:endParaRPr lang="en-US" sz="713" dirty="0"/>
          </a:p>
        </p:txBody>
      </p:sp>
      <p:sp>
        <p:nvSpPr>
          <p:cNvPr id="95" name="Text 90"/>
          <p:cNvSpPr/>
          <p:nvPr/>
        </p:nvSpPr>
        <p:spPr>
          <a:xfrm>
            <a:off x="2829401" y="12167571"/>
            <a:ext cx="929005" cy="333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087"/>
              </a:lnSpc>
              <a:buNone/>
            </a:pPr>
            <a:r>
              <a:rPr lang="en-US" sz="713" i="1" dirty="0">
                <a:solidFill>
                  <a:srgbClr val="6D6D6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„Working double-time…"</a:t>
            </a:r>
            <a:endParaRPr lang="en-US" sz="713" dirty="0"/>
          </a:p>
        </p:txBody>
      </p:sp>
      <p:sp>
        <p:nvSpPr>
          <p:cNvPr id="96" name="Shape 91"/>
          <p:cNvSpPr/>
          <p:nvPr/>
        </p:nvSpPr>
        <p:spPr>
          <a:xfrm>
            <a:off x="3767931" y="12148521"/>
            <a:ext cx="753904" cy="333851"/>
          </a:xfrm>
          <a:prstGeom prst="rect">
            <a:avLst/>
          </a:prstGeom>
          <a:solidFill>
            <a:srgbClr val="F1F5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Text 92"/>
          <p:cNvSpPr/>
          <p:nvPr/>
        </p:nvSpPr>
        <p:spPr>
          <a:xfrm>
            <a:off x="3748881" y="12167571"/>
            <a:ext cx="792004" cy="333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algn="ctr">
              <a:lnSpc>
                <a:spcPct val="115087"/>
              </a:lnSpc>
            </a:pPr>
            <a:r>
              <a:rPr lang="en-US" sz="713" b="1" dirty="0">
                <a:solidFill>
                  <a:srgbClr val="7DA519"/>
                </a:solidFill>
                <a:highlight>
                  <a:srgbClr val="F1F5E3"/>
                </a:highlight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„</a:t>
            </a:r>
            <a:r>
              <a:rPr lang="en-US" sz="713" b="1" dirty="0">
                <a:highlight>
                  <a:srgbClr val="F1F5E3"/>
                </a:highlight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And you,  </a:t>
            </a:r>
            <a:r>
              <a:rPr lang="en-US" sz="713" b="1" dirty="0">
                <a:solidFill>
                  <a:srgbClr val="7DA519"/>
                </a:solidFill>
                <a:highlight>
                  <a:srgbClr val="F1F5E3"/>
                </a:highlight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shook me all night long!"</a:t>
            </a:r>
            <a:endParaRPr lang="en-US" sz="713" dirty="0">
              <a:highlight>
                <a:srgbClr val="F1F5E3"/>
              </a:highlight>
            </a:endParaRPr>
          </a:p>
        </p:txBody>
      </p:sp>
      <p:sp>
        <p:nvSpPr>
          <p:cNvPr id="98" name="Text 93"/>
          <p:cNvSpPr/>
          <p:nvPr/>
        </p:nvSpPr>
        <p:spPr>
          <a:xfrm>
            <a:off x="4534132" y="12238771"/>
            <a:ext cx="654844" cy="160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500" kern="0" spc="54" dirty="0">
                <a:solidFill>
                  <a:srgbClr val="AA555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— Kontrast —</a:t>
            </a:r>
            <a:endParaRPr lang="en-US" sz="500" dirty="0"/>
          </a:p>
        </p:txBody>
      </p:sp>
      <p:sp>
        <p:nvSpPr>
          <p:cNvPr id="99" name="Shape 94"/>
          <p:cNvSpPr/>
          <p:nvPr/>
        </p:nvSpPr>
        <p:spPr>
          <a:xfrm>
            <a:off x="5195729" y="12148521"/>
            <a:ext cx="753904" cy="333851"/>
          </a:xfrm>
          <a:prstGeom prst="rect">
            <a:avLst/>
          </a:prstGeom>
          <a:solidFill>
            <a:srgbClr val="F1F5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Text 95"/>
          <p:cNvSpPr/>
          <p:nvPr/>
        </p:nvSpPr>
        <p:spPr>
          <a:xfrm>
            <a:off x="5176679" y="12167571"/>
            <a:ext cx="792004" cy="333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algn="ctr">
              <a:lnSpc>
                <a:spcPct val="115087"/>
              </a:lnSpc>
            </a:pPr>
            <a:r>
              <a:rPr lang="en-US" sz="713" b="1" dirty="0">
                <a:solidFill>
                  <a:srgbClr val="7DA519"/>
                </a:solidFill>
                <a:highlight>
                  <a:srgbClr val="F1F5E3"/>
                </a:highlight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„</a:t>
            </a:r>
            <a:r>
              <a:rPr lang="en-US" sz="713" b="1" dirty="0">
                <a:highlight>
                  <a:srgbClr val="F1F5E3"/>
                </a:highlight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And you,  </a:t>
            </a:r>
            <a:r>
              <a:rPr lang="en-US" sz="713" b="1" dirty="0">
                <a:solidFill>
                  <a:srgbClr val="7DA519"/>
                </a:solidFill>
                <a:highlight>
                  <a:srgbClr val="F1F5E3"/>
                </a:highlight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shook me all night long!"</a:t>
            </a:r>
            <a:endParaRPr lang="en-US" sz="713" dirty="0">
              <a:highlight>
                <a:srgbClr val="F1F5E3"/>
              </a:highlight>
            </a:endParaRPr>
          </a:p>
        </p:txBody>
      </p:sp>
      <p:sp>
        <p:nvSpPr>
          <p:cNvPr id="102" name="Text 97"/>
          <p:cNvSpPr/>
          <p:nvPr/>
        </p:nvSpPr>
        <p:spPr>
          <a:xfrm>
            <a:off x="613863" y="12686204"/>
            <a:ext cx="5896245" cy="34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n-US" sz="7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Strophe-Chorus-Form. </a:t>
            </a:r>
            <a:r>
              <a:rPr lang="de-DE" sz="700" dirty="0"/>
              <a:t>Strophe und Chorus wechseln sich ab, eine Bridge sorgt für Kontrast. Die Strophe ist tendenziell leiser und melodisch aktiver, während der Chorus lauter ist und längere Notenwerte aufweisen. Der </a:t>
            </a:r>
            <a:r>
              <a:rPr lang="de-DE" sz="700" b="1" dirty="0"/>
              <a:t>Chorus ist der „Ohrwurm“ </a:t>
            </a:r>
            <a:r>
              <a:rPr lang="de-DE" sz="700" dirty="0"/>
              <a:t>– die </a:t>
            </a:r>
            <a:r>
              <a:rPr lang="de-DE" sz="700" b="1" dirty="0"/>
              <a:t>Strophe baut darauf hin</a:t>
            </a:r>
            <a:r>
              <a:rPr lang="de-DE" sz="700" dirty="0"/>
              <a:t>.</a:t>
            </a:r>
            <a:endParaRPr lang="en-US" sz="700" dirty="0"/>
          </a:p>
        </p:txBody>
      </p:sp>
      <p:sp>
        <p:nvSpPr>
          <p:cNvPr id="103" name="Shape 98"/>
          <p:cNvSpPr/>
          <p:nvPr/>
        </p:nvSpPr>
        <p:spPr>
          <a:xfrm>
            <a:off x="533400" y="13107211"/>
            <a:ext cx="6029325" cy="9525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Text 102"/>
          <p:cNvSpPr/>
          <p:nvPr/>
        </p:nvSpPr>
        <p:spPr>
          <a:xfrm>
            <a:off x="6772275" y="10192403"/>
            <a:ext cx="329772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kern="0" spc="-8" dirty="0">
                <a:solidFill>
                  <a:srgbClr val="1A1A1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Digitale Korpora mit Experten­annotationen</a:t>
            </a:r>
            <a:endParaRPr lang="en-US" sz="1650" dirty="0"/>
          </a:p>
        </p:txBody>
      </p:sp>
      <p:sp>
        <p:nvSpPr>
          <p:cNvPr id="108" name="Text 103"/>
          <p:cNvSpPr/>
          <p:nvPr/>
        </p:nvSpPr>
        <p:spPr>
          <a:xfrm>
            <a:off x="6772275" y="10623568"/>
            <a:ext cx="60497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Zur </a:t>
            </a:r>
            <a:r>
              <a:rPr lang="en-US" sz="1100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Validierung</a:t>
            </a:r>
            <a:r>
              <a:rPr lang="en-US" sz="11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100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erzeugen</a:t>
            </a:r>
            <a:r>
              <a:rPr lang="en-US" sz="11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100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wir</a:t>
            </a:r>
            <a:r>
              <a:rPr lang="en-US" sz="11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100" b="1" dirty="0" err="1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maschinen­lesbare</a:t>
            </a:r>
            <a:r>
              <a:rPr lang="en-US" sz="11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100" b="1" dirty="0" err="1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Datensätze</a:t>
            </a:r>
            <a:r>
              <a:rPr lang="en-US" sz="1100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</a:t>
            </a:r>
            <a:r>
              <a:rPr lang="en-US" sz="11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de-DE" sz="11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die sowohl einzelne Domänen als auch die Gesamtform vielfältiger Musik erfassen.</a:t>
            </a:r>
            <a:endParaRPr lang="en-US" sz="1100" dirty="0"/>
          </a:p>
        </p:txBody>
      </p:sp>
      <p:sp>
        <p:nvSpPr>
          <p:cNvPr id="109" name="Shape 104"/>
          <p:cNvSpPr/>
          <p:nvPr/>
        </p:nvSpPr>
        <p:spPr>
          <a:xfrm>
            <a:off x="6752590" y="11288907"/>
            <a:ext cx="2986088" cy="1106805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5"/>
          <p:cNvSpPr/>
          <p:nvPr/>
        </p:nvSpPr>
        <p:spPr>
          <a:xfrm>
            <a:off x="6847840" y="11339593"/>
            <a:ext cx="287945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50" kern="0" spc="75" dirty="0">
                <a:solidFill>
                  <a:srgbClr val="7DA51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ROCK/POP ALBEN</a:t>
            </a:r>
            <a:endParaRPr lang="en-US" sz="750" dirty="0"/>
          </a:p>
        </p:txBody>
      </p:sp>
      <p:sp>
        <p:nvSpPr>
          <p:cNvPr id="111" name="Text 106"/>
          <p:cNvSpPr/>
          <p:nvPr/>
        </p:nvSpPr>
        <p:spPr>
          <a:xfrm>
            <a:off x="6847840" y="11512314"/>
            <a:ext cx="287945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US" sz="1050" b="1" dirty="0">
                <a:solidFill>
                  <a:srgbClr val="1A1A1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Vier Alben</a:t>
            </a:r>
            <a:endParaRPr lang="en-US" sz="1050" dirty="0"/>
          </a:p>
        </p:txBody>
      </p:sp>
      <p:sp>
        <p:nvSpPr>
          <p:cNvPr id="112" name="Text 107"/>
          <p:cNvSpPr/>
          <p:nvPr/>
        </p:nvSpPr>
        <p:spPr>
          <a:xfrm>
            <a:off x="6847840" y="11681349"/>
            <a:ext cx="2879455" cy="655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n-US" sz="700" kern="0" spc="24" dirty="0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AC/DC </a:t>
            </a:r>
            <a:r>
              <a:rPr lang="en-US" sz="700" kern="0" spc="24" dirty="0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</a:rPr>
              <a:t>·</a:t>
            </a:r>
            <a:r>
              <a:rPr lang="en-US" sz="700" kern="0" spc="24" dirty="0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Back in Black</a:t>
            </a:r>
          </a:p>
          <a:p>
            <a:pPr>
              <a:lnSpc>
                <a:spcPct val="140000"/>
              </a:lnSpc>
            </a:pPr>
            <a:r>
              <a:rPr lang="en-US" sz="700" kern="0" spc="24" dirty="0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Radiohead </a:t>
            </a:r>
            <a:r>
              <a:rPr lang="en-US" sz="700" kern="0" spc="24" dirty="0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</a:rPr>
              <a:t>·</a:t>
            </a:r>
            <a:r>
              <a:rPr lang="en-US" sz="700" kern="0" spc="24" dirty="0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In Rainbows</a:t>
            </a:r>
          </a:p>
          <a:p>
            <a:pPr>
              <a:lnSpc>
                <a:spcPct val="140000"/>
              </a:lnSpc>
            </a:pPr>
            <a:r>
              <a:rPr lang="en-US" sz="700" kern="0" spc="24" dirty="0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</a:rPr>
              <a:t>Stevie Wonder · Innervisions</a:t>
            </a:r>
          </a:p>
          <a:p>
            <a:pPr>
              <a:lnSpc>
                <a:spcPct val="140000"/>
              </a:lnSpc>
            </a:pPr>
            <a:r>
              <a:rPr lang="en-US" sz="700" kern="0" spc="24" dirty="0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</a:rPr>
              <a:t>Iron Maiden · The Number of the Beast</a:t>
            </a:r>
          </a:p>
        </p:txBody>
      </p:sp>
      <p:sp>
        <p:nvSpPr>
          <p:cNvPr id="117" name="Shape 112"/>
          <p:cNvSpPr/>
          <p:nvPr/>
        </p:nvSpPr>
        <p:spPr>
          <a:xfrm>
            <a:off x="9815512" y="11297570"/>
            <a:ext cx="2986088" cy="10918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8" name="Text 113"/>
          <p:cNvSpPr/>
          <p:nvPr/>
        </p:nvSpPr>
        <p:spPr>
          <a:xfrm>
            <a:off x="9910762" y="11339593"/>
            <a:ext cx="287945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50" kern="0" spc="75" dirty="0">
                <a:solidFill>
                  <a:srgbClr val="7DA51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KURZE SÄTZE</a:t>
            </a:r>
            <a:endParaRPr lang="en-US" sz="750" dirty="0"/>
          </a:p>
        </p:txBody>
      </p:sp>
      <p:sp>
        <p:nvSpPr>
          <p:cNvPr id="119" name="Text 114"/>
          <p:cNvSpPr/>
          <p:nvPr/>
        </p:nvSpPr>
        <p:spPr>
          <a:xfrm>
            <a:off x="9910762" y="11512314"/>
            <a:ext cx="287945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48 </a:t>
            </a:r>
            <a:r>
              <a:rPr lang="en-US" sz="1050" b="1" dirty="0" err="1">
                <a:solidFill>
                  <a:srgbClr val="1A1A1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Stilisierte</a:t>
            </a:r>
            <a:r>
              <a:rPr lang="en-US" sz="1050" b="1" dirty="0">
                <a:solidFill>
                  <a:srgbClr val="1A1A1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</a:t>
            </a:r>
            <a:r>
              <a:rPr lang="en-US" sz="1050" b="1" dirty="0" err="1">
                <a:solidFill>
                  <a:srgbClr val="1A1A1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Tänze</a:t>
            </a:r>
            <a:endParaRPr lang="en-US" sz="1050" dirty="0"/>
          </a:p>
        </p:txBody>
      </p:sp>
      <p:sp>
        <p:nvSpPr>
          <p:cNvPr id="120" name="Text 115"/>
          <p:cNvSpPr/>
          <p:nvPr/>
        </p:nvSpPr>
        <p:spPr>
          <a:xfrm>
            <a:off x="9910762" y="11678048"/>
            <a:ext cx="2879455" cy="6617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>
              <a:lnSpc>
                <a:spcPct val="140000"/>
              </a:lnSpc>
            </a:pPr>
            <a:r>
              <a:rPr lang="en-US" sz="788" kern="0" spc="24" dirty="0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J.S. Bach </a:t>
            </a:r>
            <a:r>
              <a:rPr lang="en-US" sz="800" kern="0" spc="24" dirty="0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</a:rPr>
              <a:t>·</a:t>
            </a:r>
            <a:r>
              <a:rPr lang="en-US" sz="788" kern="0" spc="24" dirty="0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Cello </a:t>
            </a:r>
            <a:r>
              <a:rPr lang="en-US" sz="788" kern="0" spc="24" dirty="0" err="1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Suiten</a:t>
            </a:r>
            <a:endParaRPr lang="en-US" sz="788" kern="0" spc="24" dirty="0">
              <a:solidFill>
                <a:srgbClr val="6D6D6D"/>
              </a:solidFill>
              <a:latin typeface="Source Code Pro" pitchFamily="34" charset="0"/>
              <a:ea typeface="Source Code Pro" pitchFamily="34" charset="-122"/>
              <a:cs typeface="Source Code Pro" pitchFamily="34" charset="-120"/>
            </a:endParaRPr>
          </a:p>
          <a:p>
            <a:pPr>
              <a:lnSpc>
                <a:spcPct val="140000"/>
              </a:lnSpc>
            </a:pPr>
            <a:r>
              <a:rPr lang="en-US" sz="788" kern="0" spc="24" dirty="0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J. Haydn </a:t>
            </a:r>
            <a:r>
              <a:rPr lang="en-US" sz="800" kern="0" spc="24" dirty="0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</a:rPr>
              <a:t>·</a:t>
            </a:r>
            <a:r>
              <a:rPr lang="en-US" sz="788" kern="0" spc="24" dirty="0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r>
              <a:rPr lang="en-US" sz="788" kern="0" spc="24" dirty="0" err="1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Menuette</a:t>
            </a:r>
            <a:r>
              <a:rPr lang="en-US" sz="788" kern="0" spc="24" dirty="0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&amp; Trios</a:t>
            </a:r>
          </a:p>
          <a:p>
            <a:pPr>
              <a:lnSpc>
                <a:spcPct val="140000"/>
              </a:lnSpc>
            </a:pPr>
            <a:r>
              <a:rPr lang="en-US" sz="788" kern="0" spc="24" dirty="0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</a:rPr>
              <a:t>F. Schubert </a:t>
            </a:r>
            <a:r>
              <a:rPr lang="en-US" sz="800" kern="0" spc="24" dirty="0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</a:rPr>
              <a:t>·</a:t>
            </a:r>
            <a:r>
              <a:rPr lang="en-US" sz="788" kern="0" spc="24" dirty="0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</a:rPr>
              <a:t> 12 Ländler</a:t>
            </a:r>
          </a:p>
          <a:p>
            <a:pPr>
              <a:lnSpc>
                <a:spcPct val="140000"/>
              </a:lnSpc>
            </a:pPr>
            <a:r>
              <a:rPr lang="en-US" sz="788" kern="0" spc="24" dirty="0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</a:rPr>
              <a:t>F. Chopin </a:t>
            </a:r>
            <a:r>
              <a:rPr lang="en-US" sz="800" kern="0" spc="24" dirty="0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</a:rPr>
              <a:t>·</a:t>
            </a:r>
            <a:r>
              <a:rPr lang="en-US" sz="788" kern="0" spc="24" dirty="0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</a:rPr>
              <a:t> 12 </a:t>
            </a:r>
            <a:r>
              <a:rPr lang="en-US" sz="788" kern="0" spc="24" dirty="0" err="1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</a:rPr>
              <a:t>Mazurken</a:t>
            </a:r>
            <a:endParaRPr lang="en-US" sz="788" dirty="0"/>
          </a:p>
        </p:txBody>
      </p:sp>
      <p:sp>
        <p:nvSpPr>
          <p:cNvPr id="125" name="Shape 120"/>
          <p:cNvSpPr/>
          <p:nvPr/>
        </p:nvSpPr>
        <p:spPr>
          <a:xfrm>
            <a:off x="553822" y="13265328"/>
            <a:ext cx="12268200" cy="190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Text 121"/>
          <p:cNvSpPr/>
          <p:nvPr/>
        </p:nvSpPr>
        <p:spPr>
          <a:xfrm>
            <a:off x="533400" y="13410125"/>
            <a:ext cx="294502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kern="0" spc="-8" dirty="0">
                <a:solidFill>
                  <a:srgbClr val="1A1A1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TiLiA — Form hören, sehen, annotieren</a:t>
            </a:r>
            <a:endParaRPr lang="en-US" sz="1650" dirty="0"/>
          </a:p>
        </p:txBody>
      </p:sp>
      <p:sp>
        <p:nvSpPr>
          <p:cNvPr id="131" name="Shape 125"/>
          <p:cNvSpPr/>
          <p:nvPr/>
        </p:nvSpPr>
        <p:spPr>
          <a:xfrm>
            <a:off x="524559" y="15731191"/>
            <a:ext cx="6748939" cy="45719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Text 127"/>
          <p:cNvSpPr/>
          <p:nvPr/>
        </p:nvSpPr>
        <p:spPr>
          <a:xfrm>
            <a:off x="4063003" y="14232304"/>
            <a:ext cx="2891695" cy="736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38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    </a:t>
            </a:r>
            <a:r>
              <a:rPr lang="en-US" sz="938" b="1" dirty="0" err="1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TiLiA</a:t>
            </a:r>
            <a:r>
              <a:rPr lang="en-US" sz="938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938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(Timeline Annotator) ist unser Werkzeug zum Erstellen und Teilen von Formanalysen. Mehrere Zeitachsen liegen übereinander: Form-</a:t>
            </a:r>
            <a:r>
              <a:rPr lang="en-US" sz="938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Abschnitte</a:t>
            </a:r>
            <a:r>
              <a:rPr lang="en-US" sz="938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Phrasen, </a:t>
            </a:r>
            <a:r>
              <a:rPr lang="en-US" sz="938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Akkorde</a:t>
            </a:r>
            <a:r>
              <a:rPr lang="en-US" sz="938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938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Takte</a:t>
            </a:r>
            <a:r>
              <a:rPr lang="en-US" sz="938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und Noten – alles synchron zum Klang.</a:t>
            </a:r>
            <a:endParaRPr lang="en-US" sz="938" dirty="0"/>
          </a:p>
        </p:txBody>
      </p:sp>
      <p:sp>
        <p:nvSpPr>
          <p:cNvPr id="134" name="Shape 128"/>
          <p:cNvSpPr/>
          <p:nvPr/>
        </p:nvSpPr>
        <p:spPr>
          <a:xfrm>
            <a:off x="4475075" y="13905763"/>
            <a:ext cx="866775" cy="190500"/>
          </a:xfrm>
          <a:prstGeom prst="rect">
            <a:avLst/>
          </a:prstGeom>
          <a:ln w="9525">
            <a:solidFill>
              <a:srgbClr val="7DA5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 129"/>
          <p:cNvSpPr/>
          <p:nvPr/>
        </p:nvSpPr>
        <p:spPr>
          <a:xfrm>
            <a:off x="4528309" y="13915288"/>
            <a:ext cx="76030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50" kern="0" spc="75" dirty="0">
                <a:solidFill>
                  <a:srgbClr val="7DA51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OPEN SOURCE</a:t>
            </a:r>
            <a:endParaRPr lang="en-US" sz="750" dirty="0"/>
          </a:p>
        </p:txBody>
      </p:sp>
      <p:sp>
        <p:nvSpPr>
          <p:cNvPr id="136" name="Shape 130"/>
          <p:cNvSpPr/>
          <p:nvPr/>
        </p:nvSpPr>
        <p:spPr>
          <a:xfrm>
            <a:off x="5411383" y="13905763"/>
            <a:ext cx="1000125" cy="190500"/>
          </a:xfrm>
          <a:prstGeom prst="rect">
            <a:avLst/>
          </a:prstGeom>
          <a:ln w="9525">
            <a:solidFill>
              <a:srgbClr val="7DA5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1"/>
          <p:cNvSpPr/>
          <p:nvPr/>
        </p:nvSpPr>
        <p:spPr>
          <a:xfrm>
            <a:off x="5588813" y="13915288"/>
            <a:ext cx="64526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50" kern="0" spc="75" dirty="0">
                <a:solidFill>
                  <a:srgbClr val="7DA51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KOSTENLOS</a:t>
            </a:r>
            <a:endParaRPr lang="en-US" sz="750" dirty="0"/>
          </a:p>
        </p:txBody>
      </p:sp>
      <p:grpSp>
        <p:nvGrpSpPr>
          <p:cNvPr id="1064" name="Gruppieren 1063">
            <a:extLst>
              <a:ext uri="{FF2B5EF4-FFF2-40B4-BE49-F238E27FC236}">
                <a16:creationId xmlns:a16="http://schemas.microsoft.com/office/drawing/2014/main" id="{F9157E94-FB16-8AD1-C783-4650D68B3A52}"/>
              </a:ext>
            </a:extLst>
          </p:cNvPr>
          <p:cNvGrpSpPr/>
          <p:nvPr/>
        </p:nvGrpSpPr>
        <p:grpSpPr>
          <a:xfrm>
            <a:off x="7314358" y="14008267"/>
            <a:ext cx="5259388" cy="963903"/>
            <a:chOff x="7394552" y="13533719"/>
            <a:chExt cx="5259388" cy="963903"/>
          </a:xfrm>
        </p:grpSpPr>
        <p:sp>
          <p:nvSpPr>
            <p:cNvPr id="140" name="Shape 134"/>
            <p:cNvSpPr/>
            <p:nvPr/>
          </p:nvSpPr>
          <p:spPr>
            <a:xfrm>
              <a:off x="7394552" y="13533719"/>
              <a:ext cx="5259388" cy="963903"/>
            </a:xfrm>
            <a:prstGeom prst="rect">
              <a:avLst/>
            </a:prstGeom>
            <a:solidFill>
              <a:srgbClr val="94C11C"/>
            </a:solidFill>
            <a:ln/>
            <a:effectLst>
              <a:outerShdw blurRad="101600" dist="38100" dir="5400000" algn="bl" rotWithShape="0">
                <a:srgbClr val="7DA519">
                  <a:alpha val="10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Text 135"/>
            <p:cNvSpPr/>
            <p:nvPr/>
          </p:nvSpPr>
          <p:spPr>
            <a:xfrm>
              <a:off x="7589697" y="13781587"/>
              <a:ext cx="2390146" cy="46816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2400" b="1" kern="0" spc="-10" dirty="0">
                  <a:solidFill>
                    <a:srgbClr val="1A1A1A"/>
                  </a:solidFill>
                  <a:latin typeface="Barlow Condensed" pitchFamily="34" charset="0"/>
                  <a:ea typeface="Barlow Condensed" pitchFamily="34" charset="-122"/>
                  <a:cs typeface="Barlow Condensed" pitchFamily="34" charset="-120"/>
                </a:rPr>
                <a:t>Probieren Sie es aus ›</a:t>
              </a:r>
              <a:endParaRPr lang="en-US" sz="2400" dirty="0"/>
            </a:p>
          </p:txBody>
        </p:sp>
        <p:sp>
          <p:nvSpPr>
            <p:cNvPr id="142" name="Text 136"/>
            <p:cNvSpPr/>
            <p:nvPr/>
          </p:nvSpPr>
          <p:spPr>
            <a:xfrm>
              <a:off x="10134235" y="13769974"/>
              <a:ext cx="2452138" cy="5893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35066"/>
                </a:lnSpc>
                <a:buNone/>
              </a:pPr>
              <a:r>
                <a:rPr lang="de-DE" sz="1000" dirty="0">
                  <a:solidFill>
                    <a:srgbClr val="1A1A1A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Entdecken Sie unsere Prototyp-Analysen – von Haydn bis Hard-Techno</a:t>
              </a:r>
              <a:endParaRPr lang="en-US" sz="1000" dirty="0"/>
            </a:p>
          </p:txBody>
        </p:sp>
      </p:grpSp>
      <p:sp>
        <p:nvSpPr>
          <p:cNvPr id="143" name="Shape 137"/>
          <p:cNvSpPr/>
          <p:nvPr/>
        </p:nvSpPr>
        <p:spPr>
          <a:xfrm>
            <a:off x="533400" y="15863112"/>
            <a:ext cx="1226820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5" name="Text 138"/>
          <p:cNvSpPr/>
          <p:nvPr/>
        </p:nvSpPr>
        <p:spPr>
          <a:xfrm>
            <a:off x="533400" y="17974010"/>
            <a:ext cx="16891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Anton Bruckner Privatuniversität</a:t>
            </a:r>
            <a:endParaRPr lang="en-US" sz="900" dirty="0"/>
          </a:p>
        </p:txBody>
      </p:sp>
      <p:sp>
        <p:nvSpPr>
          <p:cNvPr id="146" name="Text 139"/>
          <p:cNvSpPr/>
          <p:nvPr/>
        </p:nvSpPr>
        <p:spPr>
          <a:xfrm>
            <a:off x="553822" y="18154985"/>
            <a:ext cx="12399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434343"/>
                </a:solidFill>
                <a:latin typeface="Source Sans 3" pitchFamily="34" charset="0"/>
              </a:rPr>
              <a:t>des Landes Oberösterreich</a:t>
            </a:r>
          </a:p>
        </p:txBody>
      </p:sp>
      <p:sp>
        <p:nvSpPr>
          <p:cNvPr id="147" name="Text 140"/>
          <p:cNvSpPr/>
          <p:nvPr/>
        </p:nvSpPr>
        <p:spPr>
          <a:xfrm>
            <a:off x="524559" y="18602540"/>
            <a:ext cx="15895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25" dirty="0" err="1">
                <a:solidFill>
                  <a:srgbClr val="6D6D6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Institut</a:t>
            </a:r>
            <a:r>
              <a:rPr lang="en-US" sz="825" dirty="0">
                <a:solidFill>
                  <a:srgbClr val="6D6D6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für </a:t>
            </a:r>
            <a:r>
              <a:rPr lang="en-US" sz="825" dirty="0" err="1">
                <a:solidFill>
                  <a:srgbClr val="6D6D6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Theorie</a:t>
            </a:r>
            <a:r>
              <a:rPr lang="en-US" sz="825" dirty="0">
                <a:solidFill>
                  <a:srgbClr val="6D6D6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und </a:t>
            </a:r>
            <a:r>
              <a:rPr lang="en-US" sz="825" dirty="0" err="1">
                <a:solidFill>
                  <a:srgbClr val="6D6D6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Geschichte</a:t>
            </a:r>
            <a:endParaRPr lang="en-US" sz="825" dirty="0"/>
          </a:p>
        </p:txBody>
      </p:sp>
      <p:sp>
        <p:nvSpPr>
          <p:cNvPr id="148" name="Text 141"/>
          <p:cNvSpPr/>
          <p:nvPr/>
        </p:nvSpPr>
        <p:spPr>
          <a:xfrm>
            <a:off x="533400" y="18448355"/>
            <a:ext cx="16727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25" dirty="0">
                <a:solidFill>
                  <a:srgbClr val="6D6D6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Alice-Harnoncourt-Platz 1 · 4040</a:t>
            </a:r>
            <a:endParaRPr lang="en-US" sz="825" dirty="0"/>
          </a:p>
        </p:txBody>
      </p:sp>
      <p:sp>
        <p:nvSpPr>
          <p:cNvPr id="149" name="Shape 142"/>
          <p:cNvSpPr/>
          <p:nvPr/>
        </p:nvSpPr>
        <p:spPr>
          <a:xfrm>
            <a:off x="2412999" y="16005987"/>
            <a:ext cx="45719" cy="2719864"/>
          </a:xfrm>
          <a:prstGeom prst="rect">
            <a:avLst/>
          </a:prstGeom>
          <a:solidFill>
            <a:srgbClr val="94C1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0" name="Text 143"/>
          <p:cNvSpPr/>
          <p:nvPr/>
        </p:nvSpPr>
        <p:spPr>
          <a:xfrm>
            <a:off x="2622550" y="16005987"/>
            <a:ext cx="9171089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25" b="1" kern="0" spc="165" dirty="0">
                <a:solidFill>
                  <a:srgbClr val="7DA51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PROJEKT</a:t>
            </a:r>
            <a:endParaRPr lang="en-US" sz="825" dirty="0"/>
          </a:p>
        </p:txBody>
      </p:sp>
      <p:sp>
        <p:nvSpPr>
          <p:cNvPr id="151" name="Text 144"/>
          <p:cNvSpPr/>
          <p:nvPr/>
        </p:nvSpPr>
        <p:spPr>
          <a:xfrm>
            <a:off x="2622550" y="16286021"/>
            <a:ext cx="9171089" cy="2659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>
              <a:lnSpc>
                <a:spcPct val="105000"/>
              </a:lnSpc>
            </a:pPr>
            <a:r>
              <a:rPr lang="en-US" sz="1650" b="1" kern="0" spc="-8" dirty="0">
                <a:solidFill>
                  <a:srgbClr val="1A1A1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Towards a Unified Model of Musical Form: </a:t>
            </a:r>
            <a:r>
              <a:rPr lang="en-US" sz="1700" dirty="0">
                <a:latin typeface="Barlow Condensed" panose="00000506000000000000" pitchFamily="2" charset="0"/>
              </a:rPr>
              <a:t>Bridging Music Theory, Digital Corpus Research, and Computation</a:t>
            </a:r>
            <a:endParaRPr lang="en-US" sz="1650" dirty="0"/>
          </a:p>
        </p:txBody>
      </p:sp>
      <p:sp>
        <p:nvSpPr>
          <p:cNvPr id="153" name="Text 146"/>
          <p:cNvSpPr/>
          <p:nvPr/>
        </p:nvSpPr>
        <p:spPr>
          <a:xfrm>
            <a:off x="2622550" y="16821485"/>
            <a:ext cx="4487437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38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Prof. Dr. Markus Neuwirth</a:t>
            </a:r>
            <a:endParaRPr lang="en-US" sz="938" dirty="0"/>
          </a:p>
        </p:txBody>
      </p:sp>
      <p:sp>
        <p:nvSpPr>
          <p:cNvPr id="154" name="Text 147"/>
          <p:cNvSpPr/>
          <p:nvPr/>
        </p:nvSpPr>
        <p:spPr>
          <a:xfrm>
            <a:off x="2622550" y="16985792"/>
            <a:ext cx="4487437" cy="155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13" kern="0" spc="21" dirty="0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Institut für Theorie und Geschichte · ABU Linz</a:t>
            </a:r>
            <a:endParaRPr lang="en-US" sz="713" dirty="0"/>
          </a:p>
        </p:txBody>
      </p:sp>
      <p:grpSp>
        <p:nvGrpSpPr>
          <p:cNvPr id="188" name="Gruppieren 187">
            <a:extLst>
              <a:ext uri="{FF2B5EF4-FFF2-40B4-BE49-F238E27FC236}">
                <a16:creationId xmlns:a16="http://schemas.microsoft.com/office/drawing/2014/main" id="{265209C8-9C28-AC1D-4BDF-B091F33F7809}"/>
              </a:ext>
            </a:extLst>
          </p:cNvPr>
          <p:cNvGrpSpPr/>
          <p:nvPr/>
        </p:nvGrpSpPr>
        <p:grpSpPr>
          <a:xfrm>
            <a:off x="2611650" y="17449182"/>
            <a:ext cx="4487437" cy="320041"/>
            <a:chOff x="7169785" y="16821485"/>
            <a:chExt cx="4487437" cy="320041"/>
          </a:xfrm>
        </p:grpSpPr>
        <p:sp>
          <p:nvSpPr>
            <p:cNvPr id="156" name="Text 149"/>
            <p:cNvSpPr/>
            <p:nvPr/>
          </p:nvSpPr>
          <p:spPr>
            <a:xfrm>
              <a:off x="7169785" y="16821485"/>
              <a:ext cx="4487437" cy="19288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85000" lnSpcReduction="10000"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sz="938" b="1" dirty="0">
                  <a:solidFill>
                    <a:srgbClr val="1A1A1A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Prof. Dr. Martin Rohrmeier</a:t>
              </a:r>
              <a:endParaRPr lang="en-US" sz="938" dirty="0"/>
            </a:p>
          </p:txBody>
        </p:sp>
        <p:sp>
          <p:nvSpPr>
            <p:cNvPr id="157" name="Text 150"/>
            <p:cNvSpPr/>
            <p:nvPr/>
          </p:nvSpPr>
          <p:spPr>
            <a:xfrm>
              <a:off x="7169785" y="16985792"/>
              <a:ext cx="4487437" cy="15573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85000" lnSpcReduction="10000"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sz="713" kern="0" spc="21" dirty="0">
                  <a:solidFill>
                    <a:srgbClr val="6D6D6D"/>
                  </a:solidFill>
                  <a:latin typeface="Source Code Pro" pitchFamily="34" charset="0"/>
                  <a:ea typeface="Source Code Pro" pitchFamily="34" charset="-122"/>
                  <a:cs typeface="Source Code Pro" pitchFamily="34" charset="-120"/>
                </a:rPr>
                <a:t>Digital and Cognitive Musicology Lab · EPFL Lausanne</a:t>
              </a:r>
              <a:endParaRPr lang="en-US" sz="713" dirty="0"/>
            </a:p>
          </p:txBody>
        </p:sp>
      </p:grpSp>
      <p:grpSp>
        <p:nvGrpSpPr>
          <p:cNvPr id="187" name="Gruppieren 186">
            <a:extLst>
              <a:ext uri="{FF2B5EF4-FFF2-40B4-BE49-F238E27FC236}">
                <a16:creationId xmlns:a16="http://schemas.microsoft.com/office/drawing/2014/main" id="{A1E7CFD9-D76E-432C-7FD2-366955E12E3A}"/>
              </a:ext>
            </a:extLst>
          </p:cNvPr>
          <p:cNvGrpSpPr/>
          <p:nvPr/>
        </p:nvGrpSpPr>
        <p:grpSpPr>
          <a:xfrm>
            <a:off x="2622550" y="17146288"/>
            <a:ext cx="4487437" cy="320040"/>
            <a:chOff x="2622550" y="17296783"/>
            <a:chExt cx="4487437" cy="320040"/>
          </a:xfrm>
        </p:grpSpPr>
        <p:sp>
          <p:nvSpPr>
            <p:cNvPr id="159" name="Text 152"/>
            <p:cNvSpPr/>
            <p:nvPr/>
          </p:nvSpPr>
          <p:spPr>
            <a:xfrm>
              <a:off x="2622550" y="17296783"/>
              <a:ext cx="4487437" cy="19288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85000" lnSpcReduction="10000"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sz="938" b="1" dirty="0">
                  <a:solidFill>
                    <a:srgbClr val="1A1A1A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Prof. Dr. Friedrich Eisenbrand</a:t>
              </a:r>
              <a:endParaRPr lang="en-US" sz="938" dirty="0"/>
            </a:p>
          </p:txBody>
        </p:sp>
        <p:sp>
          <p:nvSpPr>
            <p:cNvPr id="160" name="Text 153"/>
            <p:cNvSpPr/>
            <p:nvPr/>
          </p:nvSpPr>
          <p:spPr>
            <a:xfrm>
              <a:off x="2622550" y="17461089"/>
              <a:ext cx="4487437" cy="15573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85000" lnSpcReduction="10000"/>
            </a:bodyPr>
            <a:lstStyle/>
            <a:p>
              <a:pPr marL="0" indent="0" algn="l">
                <a:lnSpc>
                  <a:spcPct val="130000"/>
                </a:lnSpc>
                <a:buNone/>
              </a:pPr>
              <a:r>
                <a:rPr lang="en-US" sz="713" kern="0" spc="21" dirty="0">
                  <a:solidFill>
                    <a:srgbClr val="6D6D6D"/>
                  </a:solidFill>
                  <a:latin typeface="Source Code Pro" pitchFamily="34" charset="0"/>
                  <a:ea typeface="Source Code Pro" pitchFamily="34" charset="-122"/>
                  <a:cs typeface="Source Code Pro" pitchFamily="34" charset="-120"/>
                </a:rPr>
                <a:t>MATH DISOPT · EPFL Lausanne</a:t>
              </a:r>
              <a:endParaRPr lang="en-US" sz="713" dirty="0"/>
            </a:p>
          </p:txBody>
        </p:sp>
      </p:grpSp>
      <p:sp>
        <p:nvSpPr>
          <p:cNvPr id="161" name="Text 154"/>
          <p:cNvSpPr/>
          <p:nvPr/>
        </p:nvSpPr>
        <p:spPr>
          <a:xfrm>
            <a:off x="5942964" y="16690693"/>
            <a:ext cx="31623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675" b="1" kern="0" spc="68" dirty="0">
                <a:solidFill>
                  <a:srgbClr val="7DA51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TEAM</a:t>
            </a:r>
            <a:endParaRPr lang="en-US" sz="675" dirty="0"/>
          </a:p>
        </p:txBody>
      </p:sp>
      <p:sp>
        <p:nvSpPr>
          <p:cNvPr id="162" name="Text 155"/>
          <p:cNvSpPr/>
          <p:nvPr/>
        </p:nvSpPr>
        <p:spPr>
          <a:xfrm>
            <a:off x="5942965" y="16811184"/>
            <a:ext cx="1446982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38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Dr. Johannes Hentschel</a:t>
            </a:r>
            <a:endParaRPr lang="en-US" sz="938" dirty="0"/>
          </a:p>
        </p:txBody>
      </p:sp>
      <p:sp>
        <p:nvSpPr>
          <p:cNvPr id="163" name="Text 156"/>
          <p:cNvSpPr/>
          <p:nvPr/>
        </p:nvSpPr>
        <p:spPr>
          <a:xfrm>
            <a:off x="5942964" y="16975489"/>
            <a:ext cx="1283471" cy="160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13" kern="0" spc="21" dirty="0" err="1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PostDoc</a:t>
            </a:r>
            <a:r>
              <a:rPr lang="en-US" sz="713" kern="0" spc="21" dirty="0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Researcher</a:t>
            </a:r>
            <a:endParaRPr lang="en-US" sz="713" dirty="0"/>
          </a:p>
        </p:txBody>
      </p:sp>
      <p:sp>
        <p:nvSpPr>
          <p:cNvPr id="164" name="Shape 157"/>
          <p:cNvSpPr/>
          <p:nvPr/>
        </p:nvSpPr>
        <p:spPr>
          <a:xfrm>
            <a:off x="2610707" y="18021001"/>
            <a:ext cx="9171089" cy="704850"/>
          </a:xfrm>
          <a:prstGeom prst="rect">
            <a:avLst/>
          </a:prstGeom>
          <a:solidFill>
            <a:srgbClr val="F1F5E3"/>
          </a:solidFill>
          <a:ln w="9525">
            <a:solidFill>
              <a:srgbClr val="94C1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4532" y="18125776"/>
            <a:ext cx="2185194" cy="495300"/>
          </a:xfrm>
          <a:prstGeom prst="rect">
            <a:avLst/>
          </a:prstGeom>
        </p:spPr>
      </p:pic>
      <p:sp>
        <p:nvSpPr>
          <p:cNvPr id="166" name="Text 158"/>
          <p:cNvSpPr/>
          <p:nvPr/>
        </p:nvSpPr>
        <p:spPr>
          <a:xfrm>
            <a:off x="5053076" y="18106726"/>
            <a:ext cx="262677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5087"/>
              </a:lnSpc>
              <a:buNone/>
            </a:pPr>
            <a:r>
              <a:rPr lang="en-US" sz="713" b="1" kern="0" spc="86" dirty="0">
                <a:solidFill>
                  <a:srgbClr val="7DA51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GEFÖRDERT MIT</a:t>
            </a:r>
            <a:endParaRPr lang="en-US" sz="713" dirty="0"/>
          </a:p>
        </p:txBody>
      </p:sp>
      <p:sp>
        <p:nvSpPr>
          <p:cNvPr id="167" name="Text 159"/>
          <p:cNvSpPr/>
          <p:nvPr/>
        </p:nvSpPr>
        <p:spPr>
          <a:xfrm>
            <a:off x="5053076" y="18268651"/>
            <a:ext cx="262677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kern="0" spc="-8" dirty="0">
                <a:solidFill>
                  <a:srgbClr val="1A1A1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2,1 Mio. CHF</a:t>
            </a:r>
            <a:endParaRPr lang="en-US" sz="1650" dirty="0"/>
          </a:p>
        </p:txBody>
      </p:sp>
      <p:sp>
        <p:nvSpPr>
          <p:cNvPr id="168" name="Text 160"/>
          <p:cNvSpPr/>
          <p:nvPr/>
        </p:nvSpPr>
        <p:spPr>
          <a:xfrm>
            <a:off x="5053076" y="18497251"/>
            <a:ext cx="2626773" cy="160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5087"/>
              </a:lnSpc>
              <a:buNone/>
            </a:pPr>
            <a:r>
              <a:rPr lang="en-US" sz="713" kern="0" spc="43" dirty="0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Swiss National Science Foundation · Grant 10000183</a:t>
            </a:r>
            <a:endParaRPr lang="en-US" sz="713" dirty="0"/>
          </a:p>
        </p:txBody>
      </p:sp>
      <p:pic>
        <p:nvPicPr>
          <p:cNvPr id="16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26923" y="17894794"/>
            <a:ext cx="882332" cy="882332"/>
          </a:xfrm>
          <a:prstGeom prst="rect">
            <a:avLst/>
          </a:prstGeom>
        </p:spPr>
      </p:pic>
      <p:sp>
        <p:nvSpPr>
          <p:cNvPr id="171" name="Text 162"/>
          <p:cNvSpPr/>
          <p:nvPr/>
        </p:nvSpPr>
        <p:spPr>
          <a:xfrm>
            <a:off x="10648636" y="17135986"/>
            <a:ext cx="2086289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kern="0" spc="24" dirty="0">
                <a:solidFill>
                  <a:srgbClr val="7DA51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DCML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600" kern="0" spc="24" dirty="0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Digital and Cognitive Musicology Lab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600" kern="0" spc="24" dirty="0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</a:rPr>
              <a:t>@ </a:t>
            </a:r>
            <a:r>
              <a:rPr lang="fr-FR" sz="600" kern="0" spc="24" dirty="0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</a:rPr>
              <a:t>École Polytechnique Fédérale de Lausanne</a:t>
            </a:r>
            <a:endParaRPr lang="en-US" sz="788" dirty="0"/>
          </a:p>
        </p:txBody>
      </p:sp>
      <p:sp>
        <p:nvSpPr>
          <p:cNvPr id="174" name="Gleichschenkliges Dreieck 173">
            <a:extLst>
              <a:ext uri="{FF2B5EF4-FFF2-40B4-BE49-F238E27FC236}">
                <a16:creationId xmlns:a16="http://schemas.microsoft.com/office/drawing/2014/main" id="{BD876E5B-5DFD-E0BE-3A08-3FE0B5E62DCB}"/>
              </a:ext>
            </a:extLst>
          </p:cNvPr>
          <p:cNvSpPr/>
          <p:nvPr/>
        </p:nvSpPr>
        <p:spPr>
          <a:xfrm rot="10800000">
            <a:off x="13043216" y="475"/>
            <a:ext cx="215583" cy="821867"/>
          </a:xfrm>
          <a:prstGeom prst="triangle">
            <a:avLst>
              <a:gd name="adj" fmla="val 0"/>
            </a:avLst>
          </a:prstGeom>
          <a:gradFill flip="none" rotWithShape="1">
            <a:gsLst>
              <a:gs pos="0">
                <a:schemeClr val="accent6">
                  <a:lumMod val="75000"/>
                  <a:tint val="66000"/>
                  <a:satMod val="160000"/>
                </a:schemeClr>
              </a:gs>
              <a:gs pos="50000">
                <a:schemeClr val="accent6">
                  <a:lumMod val="75000"/>
                  <a:tint val="44500"/>
                  <a:satMod val="16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6" name="Grafik 175">
            <a:extLst>
              <a:ext uri="{FF2B5EF4-FFF2-40B4-BE49-F238E27FC236}">
                <a16:creationId xmlns:a16="http://schemas.microsoft.com/office/drawing/2014/main" id="{38F3F60B-6B81-7585-3B66-91DDC67537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128" y="15943183"/>
            <a:ext cx="1801372" cy="1801372"/>
          </a:xfrm>
          <a:prstGeom prst="rect">
            <a:avLst/>
          </a:prstGeom>
        </p:spPr>
      </p:pic>
      <p:pic>
        <p:nvPicPr>
          <p:cNvPr id="178" name="Grafik 177">
            <a:extLst>
              <a:ext uri="{FF2B5EF4-FFF2-40B4-BE49-F238E27FC236}">
                <a16:creationId xmlns:a16="http://schemas.microsoft.com/office/drawing/2014/main" id="{6D12696E-2BCB-E22E-7F94-882BAD725A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30078" y="4149725"/>
            <a:ext cx="3819868" cy="1909445"/>
          </a:xfrm>
          <a:prstGeom prst="rect">
            <a:avLst/>
          </a:prstGeom>
        </p:spPr>
      </p:pic>
      <p:pic>
        <p:nvPicPr>
          <p:cNvPr id="182" name="Grafik 181">
            <a:extLst>
              <a:ext uri="{FF2B5EF4-FFF2-40B4-BE49-F238E27FC236}">
                <a16:creationId xmlns:a16="http://schemas.microsoft.com/office/drawing/2014/main" id="{24F60CF2-D31E-4E18-107A-2A0C1D62AF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470" y="8524249"/>
            <a:ext cx="1644650" cy="1351661"/>
          </a:xfrm>
          <a:prstGeom prst="rect">
            <a:avLst/>
          </a:prstGeom>
        </p:spPr>
      </p:pic>
      <p:sp>
        <p:nvSpPr>
          <p:cNvPr id="190" name="Text 155">
            <a:extLst>
              <a:ext uri="{FF2B5EF4-FFF2-40B4-BE49-F238E27FC236}">
                <a16:creationId xmlns:a16="http://schemas.microsoft.com/office/drawing/2014/main" id="{EB613D6E-CCA0-FC2D-E7B6-45D3152C1CBF}"/>
              </a:ext>
            </a:extLst>
          </p:cNvPr>
          <p:cNvSpPr/>
          <p:nvPr/>
        </p:nvSpPr>
        <p:spPr>
          <a:xfrm>
            <a:off x="5942965" y="17107412"/>
            <a:ext cx="1086432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38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Maik Köster, MA</a:t>
            </a:r>
            <a:endParaRPr lang="en-US" sz="938" dirty="0"/>
          </a:p>
        </p:txBody>
      </p:sp>
      <p:sp>
        <p:nvSpPr>
          <p:cNvPr id="191" name="Text 156">
            <a:extLst>
              <a:ext uri="{FF2B5EF4-FFF2-40B4-BE49-F238E27FC236}">
                <a16:creationId xmlns:a16="http://schemas.microsoft.com/office/drawing/2014/main" id="{C8BAD074-F356-6DCE-D995-F31A083073AE}"/>
              </a:ext>
            </a:extLst>
          </p:cNvPr>
          <p:cNvSpPr/>
          <p:nvPr/>
        </p:nvSpPr>
        <p:spPr>
          <a:xfrm>
            <a:off x="5942964" y="17271718"/>
            <a:ext cx="1170059" cy="155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13" kern="0" spc="21" dirty="0" err="1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PraeDoc</a:t>
            </a:r>
            <a:r>
              <a:rPr lang="en-US" sz="713" kern="0" spc="21" dirty="0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Researcher</a:t>
            </a:r>
            <a:endParaRPr lang="en-US" sz="713" dirty="0"/>
          </a:p>
        </p:txBody>
      </p:sp>
      <p:sp>
        <p:nvSpPr>
          <p:cNvPr id="192" name="Text 155">
            <a:extLst>
              <a:ext uri="{FF2B5EF4-FFF2-40B4-BE49-F238E27FC236}">
                <a16:creationId xmlns:a16="http://schemas.microsoft.com/office/drawing/2014/main" id="{92DE1BF3-A343-229E-10E4-6E857D2DEEE2}"/>
              </a:ext>
            </a:extLst>
          </p:cNvPr>
          <p:cNvSpPr/>
          <p:nvPr/>
        </p:nvSpPr>
        <p:spPr>
          <a:xfrm>
            <a:off x="5942965" y="17452694"/>
            <a:ext cx="1283470" cy="2263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Felipe Martins, MA</a:t>
            </a:r>
            <a:endParaRPr lang="en-US" sz="800" dirty="0"/>
          </a:p>
        </p:txBody>
      </p:sp>
      <p:sp>
        <p:nvSpPr>
          <p:cNvPr id="193" name="Text 156">
            <a:extLst>
              <a:ext uri="{FF2B5EF4-FFF2-40B4-BE49-F238E27FC236}">
                <a16:creationId xmlns:a16="http://schemas.microsoft.com/office/drawing/2014/main" id="{6BC259F8-4B87-886B-376C-34BE1ADBD313}"/>
              </a:ext>
            </a:extLst>
          </p:cNvPr>
          <p:cNvSpPr/>
          <p:nvPr/>
        </p:nvSpPr>
        <p:spPr>
          <a:xfrm>
            <a:off x="5942964" y="17616999"/>
            <a:ext cx="1086433" cy="155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13" kern="0" spc="21" dirty="0" err="1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PraeDoc</a:t>
            </a:r>
            <a:r>
              <a:rPr lang="en-US" sz="713" kern="0" spc="21" dirty="0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Researcher</a:t>
            </a:r>
            <a:endParaRPr lang="en-US" sz="713" dirty="0"/>
          </a:p>
        </p:txBody>
      </p:sp>
      <p:pic>
        <p:nvPicPr>
          <p:cNvPr id="194" name="Grafik 193">
            <a:extLst>
              <a:ext uri="{FF2B5EF4-FFF2-40B4-BE49-F238E27FC236}">
                <a16:creationId xmlns:a16="http://schemas.microsoft.com/office/drawing/2014/main" id="{5CE66603-C3AF-6EEC-5DC9-F7CECF5CD86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135886"/>
            <a:ext cx="1099807" cy="793774"/>
          </a:xfrm>
          <a:prstGeom prst="rect">
            <a:avLst/>
          </a:prstGeom>
        </p:spPr>
      </p:pic>
      <p:pic>
        <p:nvPicPr>
          <p:cNvPr id="198" name="Grafik 197">
            <a:extLst>
              <a:ext uri="{FF2B5EF4-FFF2-40B4-BE49-F238E27FC236}">
                <a16:creationId xmlns:a16="http://schemas.microsoft.com/office/drawing/2014/main" id="{005294FB-53D8-2D93-DE10-6589BF57F15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59401" y="337220"/>
            <a:ext cx="2078847" cy="1273504"/>
          </a:xfrm>
          <a:prstGeom prst="rect">
            <a:avLst/>
          </a:prstGeom>
        </p:spPr>
      </p:pic>
      <p:sp>
        <p:nvSpPr>
          <p:cNvPr id="199" name="Text 158">
            <a:extLst>
              <a:ext uri="{FF2B5EF4-FFF2-40B4-BE49-F238E27FC236}">
                <a16:creationId xmlns:a16="http://schemas.microsoft.com/office/drawing/2014/main" id="{EA6EB8FC-CF1F-1D92-9FEE-A2AAA8970116}"/>
              </a:ext>
            </a:extLst>
          </p:cNvPr>
          <p:cNvSpPr/>
          <p:nvPr/>
        </p:nvSpPr>
        <p:spPr>
          <a:xfrm>
            <a:off x="7964175" y="18106726"/>
            <a:ext cx="262677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5087"/>
              </a:lnSpc>
              <a:buNone/>
            </a:pPr>
            <a:r>
              <a:rPr lang="en-US" sz="713" b="1" kern="0" spc="86" dirty="0">
                <a:solidFill>
                  <a:srgbClr val="7DA51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ZEITRAUM</a:t>
            </a:r>
            <a:endParaRPr lang="en-US" sz="713" dirty="0"/>
          </a:p>
        </p:txBody>
      </p:sp>
      <p:sp>
        <p:nvSpPr>
          <p:cNvPr id="200" name="Text 159">
            <a:extLst>
              <a:ext uri="{FF2B5EF4-FFF2-40B4-BE49-F238E27FC236}">
                <a16:creationId xmlns:a16="http://schemas.microsoft.com/office/drawing/2014/main" id="{557C17B2-E9E4-4A4D-728F-7E6506A54F56}"/>
              </a:ext>
            </a:extLst>
          </p:cNvPr>
          <p:cNvSpPr/>
          <p:nvPr/>
        </p:nvSpPr>
        <p:spPr>
          <a:xfrm>
            <a:off x="7964175" y="18268651"/>
            <a:ext cx="262677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kern="0" spc="-8" dirty="0">
                <a:solidFill>
                  <a:srgbClr val="1A1A1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2024 - 2028</a:t>
            </a:r>
            <a:endParaRPr lang="en-US" sz="1650" dirty="0"/>
          </a:p>
        </p:txBody>
      </p:sp>
      <p:sp>
        <p:nvSpPr>
          <p:cNvPr id="215" name="Text 36">
            <a:extLst>
              <a:ext uri="{FF2B5EF4-FFF2-40B4-BE49-F238E27FC236}">
                <a16:creationId xmlns:a16="http://schemas.microsoft.com/office/drawing/2014/main" id="{23279BF0-767A-6CBD-F0C8-C2E6F0F10B28}"/>
              </a:ext>
            </a:extLst>
          </p:cNvPr>
          <p:cNvSpPr/>
          <p:nvPr/>
        </p:nvSpPr>
        <p:spPr>
          <a:xfrm>
            <a:off x="4755187" y="7723482"/>
            <a:ext cx="145990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 err="1">
                <a:solidFill>
                  <a:srgbClr val="1A1A1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Motivik</a:t>
            </a:r>
            <a:endParaRPr lang="en-US" sz="1200" dirty="0"/>
          </a:p>
        </p:txBody>
      </p:sp>
      <p:sp>
        <p:nvSpPr>
          <p:cNvPr id="223" name="Text 31">
            <a:extLst>
              <a:ext uri="{FF2B5EF4-FFF2-40B4-BE49-F238E27FC236}">
                <a16:creationId xmlns:a16="http://schemas.microsoft.com/office/drawing/2014/main" id="{FCF99427-0862-F87B-6931-9B4BA3666FEB}"/>
              </a:ext>
            </a:extLst>
          </p:cNvPr>
          <p:cNvSpPr/>
          <p:nvPr/>
        </p:nvSpPr>
        <p:spPr>
          <a:xfrm>
            <a:off x="6784704" y="6489700"/>
            <a:ext cx="380624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kern="0" spc="-8" dirty="0" err="1">
                <a:solidFill>
                  <a:srgbClr val="1A1A1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Weitere</a:t>
            </a:r>
            <a:r>
              <a:rPr lang="en-US" sz="1650" b="1" kern="0" spc="-8" dirty="0">
                <a:solidFill>
                  <a:srgbClr val="1A1A1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</a:t>
            </a:r>
            <a:r>
              <a:rPr lang="en-US" sz="1650" b="1" kern="0" spc="-8" dirty="0" err="1">
                <a:solidFill>
                  <a:srgbClr val="1A1A1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Aspekte</a:t>
            </a:r>
            <a:r>
              <a:rPr lang="en-US" sz="1650" b="1" kern="0" spc="-8" dirty="0">
                <a:solidFill>
                  <a:srgbClr val="1A1A1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</a:t>
            </a:r>
            <a:r>
              <a:rPr lang="en-US" sz="1650" b="1" kern="0" spc="-8" dirty="0" err="1">
                <a:solidFill>
                  <a:srgbClr val="1A1A1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modellieren</a:t>
            </a:r>
            <a:endParaRPr lang="en-US" sz="1650" dirty="0"/>
          </a:p>
        </p:txBody>
      </p:sp>
      <p:sp>
        <p:nvSpPr>
          <p:cNvPr id="224" name="Text 32">
            <a:extLst>
              <a:ext uri="{FF2B5EF4-FFF2-40B4-BE49-F238E27FC236}">
                <a16:creationId xmlns:a16="http://schemas.microsoft.com/office/drawing/2014/main" id="{AC2B9F89-11B6-0974-0060-C2FBA8B802AE}"/>
              </a:ext>
            </a:extLst>
          </p:cNvPr>
          <p:cNvSpPr/>
          <p:nvPr/>
        </p:nvSpPr>
        <p:spPr>
          <a:xfrm>
            <a:off x="6784705" y="6845299"/>
            <a:ext cx="59245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de-DE" sz="800" dirty="0"/>
              <a:t>Die Formalisierung </a:t>
            </a:r>
            <a:r>
              <a:rPr lang="de-DE" sz="800" dirty="0">
                <a:latin typeface="Source Sans 3" panose="020B0303030403020204" pitchFamily="34" charset="0"/>
              </a:rPr>
              <a:t>musikalischer</a:t>
            </a:r>
            <a:r>
              <a:rPr lang="de-DE" sz="800" dirty="0"/>
              <a:t> </a:t>
            </a:r>
            <a:r>
              <a:rPr lang="de-DE" sz="800" dirty="0">
                <a:solidFill>
                  <a:srgbClr val="434343"/>
                </a:solidFill>
                <a:latin typeface="Source Sans 3" pitchFamily="34" charset="0"/>
              </a:rPr>
              <a:t>Form</a:t>
            </a:r>
            <a:r>
              <a:rPr lang="de-DE" sz="800" dirty="0"/>
              <a:t> ist </a:t>
            </a:r>
            <a:r>
              <a:rPr lang="de-DE" sz="800" dirty="0">
                <a:latin typeface="Source Sans 3" panose="020B0303030403020204" pitchFamily="34" charset="0"/>
              </a:rPr>
              <a:t>eng</a:t>
            </a:r>
            <a:r>
              <a:rPr lang="de-DE" sz="800" dirty="0"/>
              <a:t> mit </a:t>
            </a:r>
            <a:r>
              <a:rPr lang="de-DE" sz="800" b="1" dirty="0"/>
              <a:t>weiterführenden Fragestellungen</a:t>
            </a:r>
            <a:r>
              <a:rPr lang="de-DE" sz="800" dirty="0"/>
              <a:t> in Musik, Informatik und Mathematik verbunden.</a:t>
            </a:r>
            <a:endParaRPr lang="en-US" sz="800" dirty="0"/>
          </a:p>
        </p:txBody>
      </p:sp>
      <p:sp>
        <p:nvSpPr>
          <p:cNvPr id="225" name="Shape 33">
            <a:extLst>
              <a:ext uri="{FF2B5EF4-FFF2-40B4-BE49-F238E27FC236}">
                <a16:creationId xmlns:a16="http://schemas.microsoft.com/office/drawing/2014/main" id="{CBA0E1A1-1F65-E041-3C65-6AE0052088F1}"/>
              </a:ext>
            </a:extLst>
          </p:cNvPr>
          <p:cNvSpPr/>
          <p:nvPr/>
        </p:nvSpPr>
        <p:spPr>
          <a:xfrm>
            <a:off x="6784704" y="7314408"/>
            <a:ext cx="2962276" cy="2668130"/>
          </a:xfrm>
          <a:prstGeom prst="rect">
            <a:avLst/>
          </a:prstGeom>
          <a:solidFill>
            <a:srgbClr val="F1F5E3"/>
          </a:solidFill>
          <a:ln w="9525">
            <a:solidFill>
              <a:srgbClr val="94C1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Shape 34">
            <a:extLst>
              <a:ext uri="{FF2B5EF4-FFF2-40B4-BE49-F238E27FC236}">
                <a16:creationId xmlns:a16="http://schemas.microsoft.com/office/drawing/2014/main" id="{41C4A9F7-71D9-23EC-D55C-8DF62D24C791}"/>
              </a:ext>
            </a:extLst>
          </p:cNvPr>
          <p:cNvSpPr/>
          <p:nvPr/>
        </p:nvSpPr>
        <p:spPr>
          <a:xfrm>
            <a:off x="6870700" y="7395386"/>
            <a:ext cx="266700" cy="266700"/>
          </a:xfrm>
          <a:prstGeom prst="rect">
            <a:avLst/>
          </a:prstGeom>
          <a:solidFill>
            <a:srgbClr val="94C11C"/>
          </a:solidFill>
          <a:ln w="19050">
            <a:solidFill>
              <a:srgbClr val="7DA5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Text 35">
            <a:extLst>
              <a:ext uri="{FF2B5EF4-FFF2-40B4-BE49-F238E27FC236}">
                <a16:creationId xmlns:a16="http://schemas.microsoft.com/office/drawing/2014/main" id="{5EE65838-AAE6-CC50-5CEF-59F6812838FF}"/>
              </a:ext>
            </a:extLst>
          </p:cNvPr>
          <p:cNvSpPr/>
          <p:nvPr/>
        </p:nvSpPr>
        <p:spPr>
          <a:xfrm>
            <a:off x="6845300" y="7395386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de-DE" sz="900" b="1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</a:rPr>
              <a:t>MD</a:t>
            </a:r>
            <a:endParaRPr lang="en-US" sz="900" dirty="0"/>
          </a:p>
        </p:txBody>
      </p:sp>
      <p:sp>
        <p:nvSpPr>
          <p:cNvPr id="229" name="Text 37">
            <a:extLst>
              <a:ext uri="{FF2B5EF4-FFF2-40B4-BE49-F238E27FC236}">
                <a16:creationId xmlns:a16="http://schemas.microsoft.com/office/drawing/2014/main" id="{9C9C7E21-F9B6-CC8E-A3B8-D3D717815FC1}"/>
              </a:ext>
            </a:extLst>
          </p:cNvPr>
          <p:cNvSpPr/>
          <p:nvPr/>
        </p:nvSpPr>
        <p:spPr>
          <a:xfrm>
            <a:off x="6870430" y="7964771"/>
            <a:ext cx="2737120" cy="287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>
              <a:lnSpc>
                <a:spcPct val="130000"/>
              </a:lnSpc>
            </a:pPr>
            <a:r>
              <a:rPr lang="de-DE" sz="825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Unterschiedliche Personen können dieselben Passagen unterschiedlich formal interpretieren.</a:t>
            </a:r>
            <a:endParaRPr lang="en-US" sz="825" dirty="0"/>
          </a:p>
        </p:txBody>
      </p:sp>
      <p:sp>
        <p:nvSpPr>
          <p:cNvPr id="230" name="Text 38">
            <a:extLst>
              <a:ext uri="{FF2B5EF4-FFF2-40B4-BE49-F238E27FC236}">
                <a16:creationId xmlns:a16="http://schemas.microsoft.com/office/drawing/2014/main" id="{7129216B-BF1D-6106-E0DC-2E90B585127A}"/>
              </a:ext>
            </a:extLst>
          </p:cNvPr>
          <p:cNvSpPr/>
          <p:nvPr/>
        </p:nvSpPr>
        <p:spPr>
          <a:xfrm>
            <a:off x="6870429" y="8242385"/>
            <a:ext cx="279427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50" kern="0" spc="75" dirty="0">
                <a:solidFill>
                  <a:srgbClr val="7DA51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PAPER · IN BEARBEITUNG</a:t>
            </a:r>
            <a:endParaRPr lang="en-US" sz="750" dirty="0"/>
          </a:p>
        </p:txBody>
      </p:sp>
      <p:sp>
        <p:nvSpPr>
          <p:cNvPr id="242" name="Shape 39">
            <a:extLst>
              <a:ext uri="{FF2B5EF4-FFF2-40B4-BE49-F238E27FC236}">
                <a16:creationId xmlns:a16="http://schemas.microsoft.com/office/drawing/2014/main" id="{925E8D59-8703-1D3F-5262-DC967CAD30DF}"/>
              </a:ext>
            </a:extLst>
          </p:cNvPr>
          <p:cNvSpPr/>
          <p:nvPr/>
        </p:nvSpPr>
        <p:spPr>
          <a:xfrm>
            <a:off x="9817696" y="7313332"/>
            <a:ext cx="2917229" cy="2669205"/>
          </a:xfrm>
          <a:prstGeom prst="rect">
            <a:avLst/>
          </a:prstGeom>
          <a:solidFill>
            <a:srgbClr val="F1F5E3"/>
          </a:solidFill>
          <a:ln w="9525">
            <a:solidFill>
              <a:srgbClr val="94C11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5" name="Text 43">
            <a:extLst>
              <a:ext uri="{FF2B5EF4-FFF2-40B4-BE49-F238E27FC236}">
                <a16:creationId xmlns:a16="http://schemas.microsoft.com/office/drawing/2014/main" id="{D766446F-D44E-71DF-509B-CB1CDCA06145}"/>
              </a:ext>
            </a:extLst>
          </p:cNvPr>
          <p:cNvSpPr/>
          <p:nvPr/>
        </p:nvSpPr>
        <p:spPr>
          <a:xfrm>
            <a:off x="9923374" y="7939371"/>
            <a:ext cx="2650371" cy="35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sz="700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Musikdaten</a:t>
            </a:r>
            <a:r>
              <a:rPr lang="en-US" sz="7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700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sind</a:t>
            </a:r>
            <a:r>
              <a:rPr lang="en-US" sz="7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700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inhärent</a:t>
            </a:r>
            <a:r>
              <a:rPr lang="en-US" sz="7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multimodal. Unser Timeline-Modell </a:t>
            </a:r>
            <a:r>
              <a:rPr lang="en-US" sz="700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verknüpft</a:t>
            </a:r>
            <a:r>
              <a:rPr lang="en-US" sz="7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700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klangliche</a:t>
            </a:r>
            <a:r>
              <a:rPr lang="en-US" sz="7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700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visuelle</a:t>
            </a:r>
            <a:r>
              <a:rPr lang="en-US" sz="7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und </a:t>
            </a:r>
            <a:r>
              <a:rPr lang="en-US" sz="700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symbolische</a:t>
            </a:r>
            <a:r>
              <a:rPr lang="en-US" sz="7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700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Repräsentationen</a:t>
            </a:r>
            <a:r>
              <a:rPr lang="en-US" sz="7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700" dirty="0"/>
          </a:p>
        </p:txBody>
      </p:sp>
      <p:sp>
        <p:nvSpPr>
          <p:cNvPr id="246" name="Text 44">
            <a:extLst>
              <a:ext uri="{FF2B5EF4-FFF2-40B4-BE49-F238E27FC236}">
                <a16:creationId xmlns:a16="http://schemas.microsoft.com/office/drawing/2014/main" id="{A541441A-63BD-3398-F285-701F653B90E4}"/>
              </a:ext>
            </a:extLst>
          </p:cNvPr>
          <p:cNvSpPr/>
          <p:nvPr/>
        </p:nvSpPr>
        <p:spPr>
          <a:xfrm>
            <a:off x="9923375" y="8249090"/>
            <a:ext cx="2349347" cy="205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750" kern="0" spc="75" dirty="0">
                <a:solidFill>
                  <a:srgbClr val="7DA51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PAPER · TISMIR · 2026 </a:t>
            </a:r>
            <a:endParaRPr lang="en-US" sz="750" dirty="0"/>
          </a:p>
        </p:txBody>
      </p:sp>
      <p:sp>
        <p:nvSpPr>
          <p:cNvPr id="247" name="Text 36">
            <a:extLst>
              <a:ext uri="{FF2B5EF4-FFF2-40B4-BE49-F238E27FC236}">
                <a16:creationId xmlns:a16="http://schemas.microsoft.com/office/drawing/2014/main" id="{60E1F95E-2B2F-A7FF-08AE-FDDED7CFC68F}"/>
              </a:ext>
            </a:extLst>
          </p:cNvPr>
          <p:cNvSpPr/>
          <p:nvPr/>
        </p:nvSpPr>
        <p:spPr>
          <a:xfrm>
            <a:off x="9906000" y="7723482"/>
            <a:ext cx="145990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Timelines</a:t>
            </a:r>
            <a:endParaRPr lang="en-US" sz="1200" dirty="0"/>
          </a:p>
        </p:txBody>
      </p:sp>
      <p:sp>
        <p:nvSpPr>
          <p:cNvPr id="251" name="Text 36">
            <a:extLst>
              <a:ext uri="{FF2B5EF4-FFF2-40B4-BE49-F238E27FC236}">
                <a16:creationId xmlns:a16="http://schemas.microsoft.com/office/drawing/2014/main" id="{AD5A731A-E2D2-9608-B4E1-02AB590332D7}"/>
              </a:ext>
            </a:extLst>
          </p:cNvPr>
          <p:cNvSpPr/>
          <p:nvPr/>
        </p:nvSpPr>
        <p:spPr>
          <a:xfrm>
            <a:off x="6870700" y="7713671"/>
            <a:ext cx="2867978" cy="210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 err="1">
                <a:solidFill>
                  <a:srgbClr val="1A1A1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Mehrdeutigkeit</a:t>
            </a:r>
            <a:r>
              <a:rPr lang="en-US" sz="1200" b="1" dirty="0">
                <a:solidFill>
                  <a:srgbClr val="1A1A1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und </a:t>
            </a:r>
            <a:r>
              <a:rPr lang="en-US" sz="1200" b="1" dirty="0" err="1">
                <a:solidFill>
                  <a:srgbClr val="1A1A1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analytische</a:t>
            </a:r>
            <a:r>
              <a:rPr lang="en-US" sz="1200" b="1" dirty="0">
                <a:solidFill>
                  <a:srgbClr val="1A1A1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</a:t>
            </a:r>
            <a:r>
              <a:rPr lang="en-US" sz="1200" b="1" dirty="0" err="1">
                <a:solidFill>
                  <a:srgbClr val="1A1A1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Positionen</a:t>
            </a:r>
            <a:endParaRPr lang="en-US" sz="1200" dirty="0"/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C7629546-1192-AF1A-A374-957C0B0B7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712" y="8697297"/>
            <a:ext cx="1745396" cy="1103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40" name="Gerader Verbinder 1039">
            <a:extLst>
              <a:ext uri="{FF2B5EF4-FFF2-40B4-BE49-F238E27FC236}">
                <a16:creationId xmlns:a16="http://schemas.microsoft.com/office/drawing/2014/main" id="{219A2ED5-8550-5689-6E5B-802E85B5FC94}"/>
              </a:ext>
            </a:extLst>
          </p:cNvPr>
          <p:cNvCxnSpPr>
            <a:cxnSpLocks/>
          </p:cNvCxnSpPr>
          <p:nvPr/>
        </p:nvCxnSpPr>
        <p:spPr>
          <a:xfrm>
            <a:off x="666750" y="8468485"/>
            <a:ext cx="1746249" cy="3316"/>
          </a:xfrm>
          <a:prstGeom prst="line">
            <a:avLst/>
          </a:prstGeom>
          <a:ln>
            <a:solidFill>
              <a:srgbClr val="94C1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2" name="Shape 34">
            <a:extLst>
              <a:ext uri="{FF2B5EF4-FFF2-40B4-BE49-F238E27FC236}">
                <a16:creationId xmlns:a16="http://schemas.microsoft.com/office/drawing/2014/main" id="{1B0EF531-62DA-EA3F-BB94-B47589053CFD}"/>
              </a:ext>
            </a:extLst>
          </p:cNvPr>
          <p:cNvSpPr/>
          <p:nvPr/>
        </p:nvSpPr>
        <p:spPr>
          <a:xfrm>
            <a:off x="4755187" y="7395386"/>
            <a:ext cx="266700" cy="266700"/>
          </a:xfrm>
          <a:prstGeom prst="rect">
            <a:avLst/>
          </a:prstGeom>
          <a:solidFill>
            <a:srgbClr val="94C11C"/>
          </a:solidFill>
          <a:ln w="19050">
            <a:solidFill>
              <a:srgbClr val="7DA5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3" name="Text 35">
            <a:extLst>
              <a:ext uri="{FF2B5EF4-FFF2-40B4-BE49-F238E27FC236}">
                <a16:creationId xmlns:a16="http://schemas.microsoft.com/office/drawing/2014/main" id="{848D0804-9F7D-88E6-1E55-6156078B293B}"/>
              </a:ext>
            </a:extLst>
          </p:cNvPr>
          <p:cNvSpPr/>
          <p:nvPr/>
        </p:nvSpPr>
        <p:spPr>
          <a:xfrm>
            <a:off x="4755187" y="7395386"/>
            <a:ext cx="2667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de-DE" sz="900" b="1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</a:rPr>
              <a:t>M</a:t>
            </a:r>
            <a:endParaRPr lang="en-US" sz="900" dirty="0"/>
          </a:p>
        </p:txBody>
      </p:sp>
      <p:cxnSp>
        <p:nvCxnSpPr>
          <p:cNvPr id="1044" name="Gerader Verbinder 1043">
            <a:extLst>
              <a:ext uri="{FF2B5EF4-FFF2-40B4-BE49-F238E27FC236}">
                <a16:creationId xmlns:a16="http://schemas.microsoft.com/office/drawing/2014/main" id="{BBB3E769-FB70-1804-26BC-9DE130167E82}"/>
              </a:ext>
            </a:extLst>
          </p:cNvPr>
          <p:cNvCxnSpPr>
            <a:cxnSpLocks/>
          </p:cNvCxnSpPr>
          <p:nvPr/>
        </p:nvCxnSpPr>
        <p:spPr>
          <a:xfrm>
            <a:off x="4755074" y="8468485"/>
            <a:ext cx="1746249" cy="3316"/>
          </a:xfrm>
          <a:prstGeom prst="line">
            <a:avLst/>
          </a:prstGeom>
          <a:ln>
            <a:solidFill>
              <a:srgbClr val="94C1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6" name="Grafik 1045">
            <a:extLst>
              <a:ext uri="{FF2B5EF4-FFF2-40B4-BE49-F238E27FC236}">
                <a16:creationId xmlns:a16="http://schemas.microsoft.com/office/drawing/2014/main" id="{800D2C6B-98F9-BEAE-E01C-8717519E58F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17385" y="8571137"/>
            <a:ext cx="2514657" cy="1308733"/>
          </a:xfrm>
          <a:prstGeom prst="rect">
            <a:avLst/>
          </a:prstGeom>
        </p:spPr>
      </p:pic>
      <p:pic>
        <p:nvPicPr>
          <p:cNvPr id="1048" name="Grafik 1047">
            <a:extLst>
              <a:ext uri="{FF2B5EF4-FFF2-40B4-BE49-F238E27FC236}">
                <a16:creationId xmlns:a16="http://schemas.microsoft.com/office/drawing/2014/main" id="{BC960643-50F2-FB45-8072-AEE894E6202C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-1" b="48758"/>
          <a:stretch>
            <a:fillRect/>
          </a:stretch>
        </p:blipFill>
        <p:spPr>
          <a:xfrm>
            <a:off x="9894455" y="8702374"/>
            <a:ext cx="2712567" cy="727376"/>
          </a:xfrm>
          <a:prstGeom prst="rect">
            <a:avLst/>
          </a:prstGeom>
        </p:spPr>
      </p:pic>
      <p:cxnSp>
        <p:nvCxnSpPr>
          <p:cNvPr id="1049" name="Gerader Verbinder 1048">
            <a:extLst>
              <a:ext uri="{FF2B5EF4-FFF2-40B4-BE49-F238E27FC236}">
                <a16:creationId xmlns:a16="http://schemas.microsoft.com/office/drawing/2014/main" id="{189937DA-C9D7-F3ED-5E36-F16614B6B170}"/>
              </a:ext>
            </a:extLst>
          </p:cNvPr>
          <p:cNvCxnSpPr>
            <a:cxnSpLocks/>
          </p:cNvCxnSpPr>
          <p:nvPr/>
        </p:nvCxnSpPr>
        <p:spPr>
          <a:xfrm>
            <a:off x="6867525" y="8468485"/>
            <a:ext cx="2797175" cy="3316"/>
          </a:xfrm>
          <a:prstGeom prst="line">
            <a:avLst/>
          </a:prstGeom>
          <a:ln>
            <a:solidFill>
              <a:srgbClr val="94C1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4" name="Shape 34">
            <a:extLst>
              <a:ext uri="{FF2B5EF4-FFF2-40B4-BE49-F238E27FC236}">
                <a16:creationId xmlns:a16="http://schemas.microsoft.com/office/drawing/2014/main" id="{C284AEAD-342B-9318-BD8F-4973A6191B0D}"/>
              </a:ext>
            </a:extLst>
          </p:cNvPr>
          <p:cNvSpPr/>
          <p:nvPr/>
        </p:nvSpPr>
        <p:spPr>
          <a:xfrm>
            <a:off x="9941560" y="7395386"/>
            <a:ext cx="266700" cy="266700"/>
          </a:xfrm>
          <a:prstGeom prst="rect">
            <a:avLst/>
          </a:prstGeom>
          <a:solidFill>
            <a:srgbClr val="94C11C"/>
          </a:solidFill>
          <a:ln w="19050">
            <a:solidFill>
              <a:srgbClr val="7DA5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5" name="Text 35">
            <a:extLst>
              <a:ext uri="{FF2B5EF4-FFF2-40B4-BE49-F238E27FC236}">
                <a16:creationId xmlns:a16="http://schemas.microsoft.com/office/drawing/2014/main" id="{B5FC4327-1761-8EC3-7EE6-8EA9DB3ACE64}"/>
              </a:ext>
            </a:extLst>
          </p:cNvPr>
          <p:cNvSpPr/>
          <p:nvPr/>
        </p:nvSpPr>
        <p:spPr>
          <a:xfrm>
            <a:off x="9916160" y="7395386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de-DE" sz="900" b="1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</a:rPr>
              <a:t>TL</a:t>
            </a:r>
            <a:endParaRPr lang="en-US" sz="900" dirty="0"/>
          </a:p>
        </p:txBody>
      </p:sp>
      <p:cxnSp>
        <p:nvCxnSpPr>
          <p:cNvPr id="1056" name="Gerader Verbinder 1055">
            <a:extLst>
              <a:ext uri="{FF2B5EF4-FFF2-40B4-BE49-F238E27FC236}">
                <a16:creationId xmlns:a16="http://schemas.microsoft.com/office/drawing/2014/main" id="{8638CB3A-C692-043B-5ACD-599E4CEA4ABD}"/>
              </a:ext>
            </a:extLst>
          </p:cNvPr>
          <p:cNvCxnSpPr>
            <a:cxnSpLocks/>
          </p:cNvCxnSpPr>
          <p:nvPr/>
        </p:nvCxnSpPr>
        <p:spPr>
          <a:xfrm>
            <a:off x="9882696" y="8468485"/>
            <a:ext cx="2797175" cy="3316"/>
          </a:xfrm>
          <a:prstGeom prst="line">
            <a:avLst/>
          </a:prstGeom>
          <a:ln>
            <a:solidFill>
              <a:srgbClr val="94C1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9" name="Text 154">
            <a:extLst>
              <a:ext uri="{FF2B5EF4-FFF2-40B4-BE49-F238E27FC236}">
                <a16:creationId xmlns:a16="http://schemas.microsoft.com/office/drawing/2014/main" id="{892ABEBC-D1E0-162E-138F-168B3CF08002}"/>
              </a:ext>
            </a:extLst>
          </p:cNvPr>
          <p:cNvSpPr/>
          <p:nvPr/>
        </p:nvSpPr>
        <p:spPr>
          <a:xfrm>
            <a:off x="2627439" y="16706216"/>
            <a:ext cx="4070161" cy="137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675" b="1" kern="0" spc="68" dirty="0">
                <a:solidFill>
                  <a:srgbClr val="7DA51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PRINCIPAL INVESTIGATORS</a:t>
            </a:r>
            <a:endParaRPr lang="en-US" sz="675" dirty="0"/>
          </a:p>
        </p:txBody>
      </p:sp>
      <p:sp>
        <p:nvSpPr>
          <p:cNvPr id="26" name="Text 22"/>
          <p:cNvSpPr/>
          <p:nvPr/>
        </p:nvSpPr>
        <p:spPr>
          <a:xfrm>
            <a:off x="582492" y="3282621"/>
            <a:ext cx="6085008" cy="2802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de-DE" sz="1500" b="1" kern="0" spc="-8" dirty="0">
                <a:solidFill>
                  <a:srgbClr val="1A1A1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Auf dem Weg zu einem übergreifenden Modell musikalischer Form</a:t>
            </a:r>
            <a:endParaRPr lang="de-DE" sz="1500" dirty="0"/>
          </a:p>
        </p:txBody>
      </p:sp>
      <p:sp>
        <p:nvSpPr>
          <p:cNvPr id="28" name="Text 24"/>
          <p:cNvSpPr/>
          <p:nvPr/>
        </p:nvSpPr>
        <p:spPr>
          <a:xfrm>
            <a:off x="606246" y="4654473"/>
            <a:ext cx="594504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b="1" dirty="0" err="1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Modellierung</a:t>
            </a:r>
            <a:r>
              <a:rPr lang="en-US" sz="11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100" b="1" dirty="0" err="1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musikalischer</a:t>
            </a:r>
            <a:r>
              <a:rPr lang="en-US" sz="11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Form </a:t>
            </a:r>
            <a:r>
              <a:rPr lang="en-US" sz="11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— Stil- und </a:t>
            </a:r>
            <a:r>
              <a:rPr lang="en-US" sz="1100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theorie</a:t>
            </a:r>
            <a:r>
              <a:rPr lang="en-US" sz="11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und </a:t>
            </a:r>
            <a:r>
              <a:rPr lang="en-US" sz="1100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domänenübergreifend</a:t>
            </a:r>
            <a:r>
              <a:rPr lang="en-US" sz="11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535320" y="4961390"/>
            <a:ext cx="5898549" cy="9525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1" name="Shape 27"/>
          <p:cNvSpPr/>
          <p:nvPr/>
        </p:nvSpPr>
        <p:spPr>
          <a:xfrm>
            <a:off x="552572" y="5341192"/>
            <a:ext cx="5898549" cy="9525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32" name="Text 28"/>
          <p:cNvSpPr/>
          <p:nvPr/>
        </p:nvSpPr>
        <p:spPr>
          <a:xfrm>
            <a:off x="621168" y="5003800"/>
            <a:ext cx="594504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100" b="1" dirty="0" err="1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Erstellung</a:t>
            </a:r>
            <a:r>
              <a:rPr lang="en-US" sz="11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von </a:t>
            </a:r>
            <a:r>
              <a:rPr lang="en-US" sz="1100" b="1" dirty="0" err="1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digitalen</a:t>
            </a:r>
            <a:r>
              <a:rPr lang="en-US" sz="11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100" b="1" dirty="0" err="1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Korpora</a:t>
            </a:r>
            <a:r>
              <a:rPr lang="en-US" sz="11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1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— </a:t>
            </a:r>
            <a:r>
              <a:rPr lang="en-US" sz="1100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Machinenlesbare</a:t>
            </a:r>
            <a:r>
              <a:rPr lang="en-US" sz="11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100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Datensätze</a:t>
            </a:r>
            <a:r>
              <a:rPr lang="en-US" sz="11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von </a:t>
            </a:r>
            <a:r>
              <a:rPr lang="en-US" sz="1100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detaillierten</a:t>
            </a:r>
            <a:r>
              <a:rPr lang="en-US" sz="11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100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Formanalysen</a:t>
            </a:r>
            <a:endParaRPr lang="en-US" sz="1100" dirty="0">
              <a:solidFill>
                <a:srgbClr val="434343"/>
              </a:solidFill>
              <a:latin typeface="Source Sans 3" pitchFamily="34" charset="0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644346" y="5380137"/>
            <a:ext cx="5945048" cy="6376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100" b="1" dirty="0" err="1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Automatisierte</a:t>
            </a:r>
            <a:r>
              <a:rPr lang="en-US" sz="11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100" b="1" dirty="0" err="1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Formanalyse</a:t>
            </a:r>
            <a:r>
              <a:rPr lang="en-US" sz="11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1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— Zur </a:t>
            </a:r>
            <a:r>
              <a:rPr lang="en-US" sz="1100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Validierung</a:t>
            </a:r>
            <a:r>
              <a:rPr lang="en-US" sz="11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des </a:t>
            </a:r>
            <a:r>
              <a:rPr lang="en-US" sz="1100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theoretischen</a:t>
            </a:r>
            <a:r>
              <a:rPr lang="en-US" sz="11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100" dirty="0" err="1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Modells</a:t>
            </a:r>
            <a:endParaRPr lang="en-US" sz="1100" dirty="0"/>
          </a:p>
        </p:txBody>
      </p:sp>
      <p:sp>
        <p:nvSpPr>
          <p:cNvPr id="7" name="Text 14">
            <a:extLst>
              <a:ext uri="{FF2B5EF4-FFF2-40B4-BE49-F238E27FC236}">
                <a16:creationId xmlns:a16="http://schemas.microsoft.com/office/drawing/2014/main" id="{5F469322-7C45-3FD9-0B48-5B24260BCF8D}"/>
              </a:ext>
            </a:extLst>
          </p:cNvPr>
          <p:cNvSpPr/>
          <p:nvPr/>
        </p:nvSpPr>
        <p:spPr>
          <a:xfrm>
            <a:off x="619126" y="3747335"/>
            <a:ext cx="5890983" cy="716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de-DE" sz="938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Form ist ein wichtiger und intensiv erforschter Teil der Musiktheorie. Die bisherige Forschung ist jedoch meist unpräzise, auf einzelne Genres beschränkt und kaum empirisch fundiert. Unsere Ziele sind:</a:t>
            </a:r>
          </a:p>
        </p:txBody>
      </p:sp>
      <p:sp>
        <p:nvSpPr>
          <p:cNvPr id="10" name="Shape 120">
            <a:extLst>
              <a:ext uri="{FF2B5EF4-FFF2-40B4-BE49-F238E27FC236}">
                <a16:creationId xmlns:a16="http://schemas.microsoft.com/office/drawing/2014/main" id="{A388D0B2-7A94-AB55-89AD-9EAFDB9AFB4E}"/>
              </a:ext>
            </a:extLst>
          </p:cNvPr>
          <p:cNvSpPr/>
          <p:nvPr/>
        </p:nvSpPr>
        <p:spPr>
          <a:xfrm>
            <a:off x="542925" y="3176464"/>
            <a:ext cx="12268200" cy="190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120">
            <a:extLst>
              <a:ext uri="{FF2B5EF4-FFF2-40B4-BE49-F238E27FC236}">
                <a16:creationId xmlns:a16="http://schemas.microsoft.com/office/drawing/2014/main" id="{B2050B6D-9E63-9495-62F6-BE7CC74D8064}"/>
              </a:ext>
            </a:extLst>
          </p:cNvPr>
          <p:cNvSpPr/>
          <p:nvPr/>
        </p:nvSpPr>
        <p:spPr>
          <a:xfrm>
            <a:off x="542925" y="6340176"/>
            <a:ext cx="12268200" cy="190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36F79162-B81B-B4ED-540C-1757C4F32006}"/>
              </a:ext>
            </a:extLst>
          </p:cNvPr>
          <p:cNvSpPr/>
          <p:nvPr/>
        </p:nvSpPr>
        <p:spPr>
          <a:xfrm>
            <a:off x="6871296" y="3469341"/>
            <a:ext cx="589280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de-DE" sz="10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Wir streben ein hierarchisches Modell einer </a:t>
            </a:r>
            <a:r>
              <a:rPr lang="de-DE" sz="1000" b="1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Grammatik musikalischer Form </a:t>
            </a:r>
            <a:r>
              <a:rPr lang="de-DE" sz="10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an, das mathematisch präzise ist, dabei aber sowohl die musikalische Wahrnehmung als auch die Mehrdeutigkeit bei der Wahrnehmung von Formkategorien berücksichtigt.</a:t>
            </a:r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565AF072-400E-9E6D-17E8-6F462F893C58}"/>
              </a:ext>
            </a:extLst>
          </p:cNvPr>
          <p:cNvSpPr/>
          <p:nvPr/>
        </p:nvSpPr>
        <p:spPr>
          <a:xfrm>
            <a:off x="6845300" y="4216629"/>
            <a:ext cx="1917700" cy="1333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de-DE" sz="10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Wir beschreiben die Gruppierungsstruktur eines Stücks durch </a:t>
            </a:r>
            <a:r>
              <a:rPr lang="de-DE" sz="1000" b="1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Prototypen</a:t>
            </a:r>
            <a:r>
              <a:rPr lang="de-DE" sz="10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formaler Kategorien (z. B. </a:t>
            </a:r>
            <a:r>
              <a:rPr lang="de-DE" sz="1000" b="1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formaler Funktionen</a:t>
            </a:r>
            <a:r>
              <a:rPr lang="de-DE" sz="10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 in einem </a:t>
            </a:r>
            <a:r>
              <a:rPr lang="de-DE" sz="1000" b="1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Syntaxbaum</a:t>
            </a:r>
            <a:r>
              <a:rPr lang="de-DE" sz="10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</a:p>
        </p:txBody>
      </p:sp>
      <p:sp>
        <p:nvSpPr>
          <p:cNvPr id="8" name="Text 55">
            <a:extLst>
              <a:ext uri="{FF2B5EF4-FFF2-40B4-BE49-F238E27FC236}">
                <a16:creationId xmlns:a16="http://schemas.microsoft.com/office/drawing/2014/main" id="{BE2FC06A-66FD-4C97-133E-DD73A7C9EA8E}"/>
              </a:ext>
            </a:extLst>
          </p:cNvPr>
          <p:cNvSpPr/>
          <p:nvPr/>
        </p:nvSpPr>
        <p:spPr>
          <a:xfrm>
            <a:off x="6871296" y="5798539"/>
            <a:ext cx="1860550" cy="331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n-US" sz="500" b="1" kern="0" spc="38" dirty="0">
                <a:solidFill>
                  <a:srgbClr val="43434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Fig. </a:t>
            </a:r>
            <a:r>
              <a:rPr lang="en-US" sz="500" kern="0" spc="38" dirty="0" err="1">
                <a:solidFill>
                  <a:srgbClr val="43434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</a:t>
            </a:r>
            <a:r>
              <a:rPr lang="en-US" sz="500" kern="0" spc="38" dirty="0" err="1">
                <a:solidFill>
                  <a:srgbClr val="6D6D6D"/>
                </a:solidFill>
                <a:highlight>
                  <a:srgbClr val="FFFFFF"/>
                </a:highlight>
                <a:latin typeface="Source Code Pro" pitchFamily="34" charset="0"/>
                <a:ea typeface="Source Code Pro" pitchFamily="34" charset="-122"/>
              </a:rPr>
              <a:t>yntaxbaum</a:t>
            </a:r>
            <a:r>
              <a:rPr lang="en-US" sz="500" kern="0" spc="38" dirty="0">
                <a:solidFill>
                  <a:srgbClr val="6D6D6D"/>
                </a:solidFill>
                <a:highlight>
                  <a:srgbClr val="FFFFFF"/>
                </a:highlight>
                <a:latin typeface="Source Code Pro" pitchFamily="34" charset="0"/>
                <a:ea typeface="Source Code Pro" pitchFamily="34" charset="-122"/>
              </a:rPr>
              <a:t> von Mozart, </a:t>
            </a:r>
            <a:r>
              <a:rPr lang="en-US" sz="500" kern="0" spc="38" dirty="0" err="1">
                <a:solidFill>
                  <a:srgbClr val="6D6D6D"/>
                </a:solidFill>
                <a:highlight>
                  <a:srgbClr val="FFFFFF"/>
                </a:highlight>
                <a:latin typeface="Source Code Pro" pitchFamily="34" charset="0"/>
                <a:ea typeface="Source Code Pro" pitchFamily="34" charset="-122"/>
              </a:rPr>
              <a:t>Minuett</a:t>
            </a:r>
            <a:r>
              <a:rPr lang="en-US" sz="500" kern="0" spc="38" dirty="0">
                <a:solidFill>
                  <a:srgbClr val="6D6D6D"/>
                </a:solidFill>
                <a:highlight>
                  <a:srgbClr val="FFFFFF"/>
                </a:highlight>
                <a:latin typeface="Source Code Pro" pitchFamily="34" charset="0"/>
                <a:ea typeface="Source Code Pro" pitchFamily="34" charset="-122"/>
              </a:rPr>
              <a:t> in G K. 1 (</a:t>
            </a:r>
            <a:r>
              <a:rPr lang="en-US" sz="500" kern="0" spc="38" dirty="0" err="1">
                <a:solidFill>
                  <a:srgbClr val="6D6D6D"/>
                </a:solidFill>
                <a:highlight>
                  <a:srgbClr val="FFFFFF"/>
                </a:highlight>
                <a:latin typeface="Source Code Pro" pitchFamily="34" charset="0"/>
                <a:ea typeface="Source Code Pro" pitchFamily="34" charset="-122"/>
              </a:rPr>
              <a:t>Rohrmeier</a:t>
            </a:r>
            <a:r>
              <a:rPr lang="en-US" sz="500" kern="0" spc="38" dirty="0">
                <a:solidFill>
                  <a:srgbClr val="6D6D6D"/>
                </a:solidFill>
                <a:highlight>
                  <a:srgbClr val="FFFFFF"/>
                </a:highlight>
                <a:latin typeface="Source Code Pro" pitchFamily="34" charset="0"/>
                <a:ea typeface="Source Code Pro" pitchFamily="34" charset="-122"/>
              </a:rPr>
              <a:t> &amp; Neuwirth </a:t>
            </a:r>
            <a:r>
              <a:rPr lang="en-US" sz="500" kern="0" spc="38" dirty="0">
                <a:solidFill>
                  <a:srgbClr val="6D6D6D"/>
                </a:solidFill>
                <a:highlight>
                  <a:srgbClr val="FFFFFF"/>
                </a:highlight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2025)</a:t>
            </a:r>
            <a:endParaRPr lang="en-US" sz="500" dirty="0"/>
          </a:p>
        </p:txBody>
      </p:sp>
      <p:sp>
        <p:nvSpPr>
          <p:cNvPr id="15" name="Text 103">
            <a:extLst>
              <a:ext uri="{FF2B5EF4-FFF2-40B4-BE49-F238E27FC236}">
                <a16:creationId xmlns:a16="http://schemas.microsoft.com/office/drawing/2014/main" id="{A99FB68C-922F-FB45-E990-D9674B8D3182}"/>
              </a:ext>
            </a:extLst>
          </p:cNvPr>
          <p:cNvSpPr/>
          <p:nvPr/>
        </p:nvSpPr>
        <p:spPr>
          <a:xfrm>
            <a:off x="6840026" y="12657632"/>
            <a:ext cx="6049747" cy="2686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de-DE" sz="9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Diese Datensätze werden </a:t>
            </a:r>
            <a:r>
              <a:rPr lang="de-DE" sz="900" b="1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kontinuierlich erweitert </a:t>
            </a:r>
            <a:r>
              <a:rPr lang="de-DE" sz="9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und umfassen zunehmend Musik aus </a:t>
            </a:r>
            <a:r>
              <a:rPr lang="de-DE" sz="900" b="1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unterschiedlichen Genres.</a:t>
            </a:r>
            <a:endParaRPr lang="en-US" sz="900" b="1" dirty="0"/>
          </a:p>
        </p:txBody>
      </p:sp>
      <p:sp>
        <p:nvSpPr>
          <p:cNvPr id="18" name="Text 162">
            <a:extLst>
              <a:ext uri="{FF2B5EF4-FFF2-40B4-BE49-F238E27FC236}">
                <a16:creationId xmlns:a16="http://schemas.microsoft.com/office/drawing/2014/main" id="{6D0BC6CD-B062-3C19-7C75-77F08C7B424E}"/>
              </a:ext>
            </a:extLst>
          </p:cNvPr>
          <p:cNvSpPr/>
          <p:nvPr/>
        </p:nvSpPr>
        <p:spPr>
          <a:xfrm>
            <a:off x="10656949" y="16345555"/>
            <a:ext cx="2086289" cy="668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kern="0" spc="24" dirty="0">
                <a:solidFill>
                  <a:srgbClr val="7DA51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LCMA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600" kern="0" spc="24" dirty="0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Linz Computational Music Analysis Research Group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700" kern="0" spc="24" dirty="0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@ Anton Bruckner </a:t>
            </a:r>
            <a:r>
              <a:rPr lang="en-US" sz="700" kern="0" spc="24" dirty="0" err="1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Privatuniversität</a:t>
            </a:r>
            <a:endParaRPr lang="en-US" sz="700" kern="0" spc="24" dirty="0">
              <a:solidFill>
                <a:srgbClr val="6D6D6D"/>
              </a:solidFill>
              <a:latin typeface="Source Code Pro" pitchFamily="34" charset="0"/>
              <a:ea typeface="Source Code Pro" pitchFamily="34" charset="-122"/>
              <a:cs typeface="Source Code Pro" pitchFamily="34" charset="-120"/>
            </a:endParaRPr>
          </a:p>
        </p:txBody>
      </p:sp>
      <p:sp>
        <p:nvSpPr>
          <p:cNvPr id="21" name="Text 155">
            <a:extLst>
              <a:ext uri="{FF2B5EF4-FFF2-40B4-BE49-F238E27FC236}">
                <a16:creationId xmlns:a16="http://schemas.microsoft.com/office/drawing/2014/main" id="{0B3DA3C3-CB6B-D9F8-7A0B-29ACAC90D306}"/>
              </a:ext>
            </a:extLst>
          </p:cNvPr>
          <p:cNvSpPr/>
          <p:nvPr/>
        </p:nvSpPr>
        <p:spPr>
          <a:xfrm>
            <a:off x="7539943" y="16798378"/>
            <a:ext cx="1446982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38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Dr. Yannis Ramos</a:t>
            </a:r>
            <a:endParaRPr lang="en-US" sz="938" dirty="0"/>
          </a:p>
        </p:txBody>
      </p:sp>
      <p:sp>
        <p:nvSpPr>
          <p:cNvPr id="22" name="Text 156">
            <a:extLst>
              <a:ext uri="{FF2B5EF4-FFF2-40B4-BE49-F238E27FC236}">
                <a16:creationId xmlns:a16="http://schemas.microsoft.com/office/drawing/2014/main" id="{AA1A3DDF-0225-CAF9-D889-1A7DDC0BC28B}"/>
              </a:ext>
            </a:extLst>
          </p:cNvPr>
          <p:cNvSpPr/>
          <p:nvPr/>
        </p:nvSpPr>
        <p:spPr>
          <a:xfrm>
            <a:off x="7539942" y="16962683"/>
            <a:ext cx="1283471" cy="160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13" kern="0" spc="21" dirty="0" err="1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PostDoc</a:t>
            </a:r>
            <a:r>
              <a:rPr lang="en-US" sz="713" kern="0" spc="21" dirty="0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Researcher</a:t>
            </a:r>
            <a:endParaRPr lang="en-US" sz="713" dirty="0"/>
          </a:p>
        </p:txBody>
      </p:sp>
      <p:sp>
        <p:nvSpPr>
          <p:cNvPr id="23" name="Text 155">
            <a:extLst>
              <a:ext uri="{FF2B5EF4-FFF2-40B4-BE49-F238E27FC236}">
                <a16:creationId xmlns:a16="http://schemas.microsoft.com/office/drawing/2014/main" id="{F9F9906B-D6D7-71CE-8C5E-2775079CBF15}"/>
              </a:ext>
            </a:extLst>
          </p:cNvPr>
          <p:cNvSpPr/>
          <p:nvPr/>
        </p:nvSpPr>
        <p:spPr>
          <a:xfrm>
            <a:off x="7539943" y="17094606"/>
            <a:ext cx="1086432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38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Dr. Edward Hall</a:t>
            </a:r>
            <a:endParaRPr lang="en-US" sz="938" dirty="0"/>
          </a:p>
        </p:txBody>
      </p:sp>
      <p:sp>
        <p:nvSpPr>
          <p:cNvPr id="24" name="Text 156">
            <a:extLst>
              <a:ext uri="{FF2B5EF4-FFF2-40B4-BE49-F238E27FC236}">
                <a16:creationId xmlns:a16="http://schemas.microsoft.com/office/drawing/2014/main" id="{B107ADC1-E531-ED41-0CD8-B54196ECA35A}"/>
              </a:ext>
            </a:extLst>
          </p:cNvPr>
          <p:cNvSpPr/>
          <p:nvPr/>
        </p:nvSpPr>
        <p:spPr>
          <a:xfrm>
            <a:off x="7539942" y="17258912"/>
            <a:ext cx="1170059" cy="155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13" kern="0" spc="21" dirty="0" err="1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PostDoc</a:t>
            </a:r>
            <a:r>
              <a:rPr lang="en-US" sz="713" kern="0" spc="21" dirty="0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Researcher</a:t>
            </a:r>
            <a:endParaRPr lang="en-US" sz="713" dirty="0"/>
          </a:p>
        </p:txBody>
      </p:sp>
      <p:sp>
        <p:nvSpPr>
          <p:cNvPr id="25" name="Text 155">
            <a:extLst>
              <a:ext uri="{FF2B5EF4-FFF2-40B4-BE49-F238E27FC236}">
                <a16:creationId xmlns:a16="http://schemas.microsoft.com/office/drawing/2014/main" id="{A7220655-79ED-8C32-1AE0-2681488A83D5}"/>
              </a:ext>
            </a:extLst>
          </p:cNvPr>
          <p:cNvSpPr/>
          <p:nvPr/>
        </p:nvSpPr>
        <p:spPr>
          <a:xfrm>
            <a:off x="7539943" y="17439888"/>
            <a:ext cx="1283470" cy="2263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Joris Monnet, MA</a:t>
            </a:r>
            <a:endParaRPr lang="en-US" sz="800" dirty="0"/>
          </a:p>
        </p:txBody>
      </p:sp>
      <p:sp>
        <p:nvSpPr>
          <p:cNvPr id="29" name="Text 156">
            <a:extLst>
              <a:ext uri="{FF2B5EF4-FFF2-40B4-BE49-F238E27FC236}">
                <a16:creationId xmlns:a16="http://schemas.microsoft.com/office/drawing/2014/main" id="{FA11B83A-8982-63B2-079A-A984479A2A65}"/>
              </a:ext>
            </a:extLst>
          </p:cNvPr>
          <p:cNvSpPr/>
          <p:nvPr/>
        </p:nvSpPr>
        <p:spPr>
          <a:xfrm>
            <a:off x="7539942" y="17604193"/>
            <a:ext cx="1086433" cy="155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13" kern="0" spc="21" dirty="0" err="1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PraeDoc</a:t>
            </a:r>
            <a:r>
              <a:rPr lang="en-US" sz="713" kern="0" spc="21" dirty="0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Researcher</a:t>
            </a:r>
            <a:endParaRPr lang="en-US" sz="713" dirty="0"/>
          </a:p>
        </p:txBody>
      </p:sp>
      <p:sp>
        <p:nvSpPr>
          <p:cNvPr id="44" name="Text 155">
            <a:extLst>
              <a:ext uri="{FF2B5EF4-FFF2-40B4-BE49-F238E27FC236}">
                <a16:creationId xmlns:a16="http://schemas.microsoft.com/office/drawing/2014/main" id="{4E5E362C-3EC9-A2B5-C238-BE7B7046441E}"/>
              </a:ext>
            </a:extLst>
          </p:cNvPr>
          <p:cNvSpPr/>
          <p:nvPr/>
        </p:nvSpPr>
        <p:spPr>
          <a:xfrm>
            <a:off x="8771954" y="17055730"/>
            <a:ext cx="1348458" cy="2317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38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Marina Borsodi-Benson, MA</a:t>
            </a:r>
            <a:endParaRPr lang="en-US" sz="938" dirty="0"/>
          </a:p>
        </p:txBody>
      </p:sp>
      <p:sp>
        <p:nvSpPr>
          <p:cNvPr id="45" name="Text 156">
            <a:extLst>
              <a:ext uri="{FF2B5EF4-FFF2-40B4-BE49-F238E27FC236}">
                <a16:creationId xmlns:a16="http://schemas.microsoft.com/office/drawing/2014/main" id="{1B412CDA-CCEB-747A-0501-8746DAF32770}"/>
              </a:ext>
            </a:extLst>
          </p:cNvPr>
          <p:cNvSpPr/>
          <p:nvPr/>
        </p:nvSpPr>
        <p:spPr>
          <a:xfrm>
            <a:off x="8771953" y="17220037"/>
            <a:ext cx="1170059" cy="155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13" kern="0" spc="21" dirty="0" err="1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PraeDoc</a:t>
            </a:r>
            <a:r>
              <a:rPr lang="en-US" sz="713" kern="0" spc="21" dirty="0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Researcher</a:t>
            </a:r>
            <a:endParaRPr lang="en-US" sz="713" dirty="0"/>
          </a:p>
        </p:txBody>
      </p:sp>
      <p:sp>
        <p:nvSpPr>
          <p:cNvPr id="49" name="Text 155">
            <a:extLst>
              <a:ext uri="{FF2B5EF4-FFF2-40B4-BE49-F238E27FC236}">
                <a16:creationId xmlns:a16="http://schemas.microsoft.com/office/drawing/2014/main" id="{5CFFA20B-0CDC-E11C-406D-514FF8BCDDBA}"/>
              </a:ext>
            </a:extLst>
          </p:cNvPr>
          <p:cNvSpPr/>
          <p:nvPr/>
        </p:nvSpPr>
        <p:spPr>
          <a:xfrm>
            <a:off x="8771954" y="17401013"/>
            <a:ext cx="1459166" cy="2263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Ruben Manuel </a:t>
            </a:r>
            <a:r>
              <a:rPr lang="en-US" sz="800" b="1" dirty="0" err="1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Skorupinski</a:t>
            </a:r>
            <a:r>
              <a:rPr lang="en-US" sz="800" b="1" dirty="0">
                <a:solidFill>
                  <a:srgbClr val="1A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MA</a:t>
            </a:r>
            <a:endParaRPr lang="en-US" sz="800" dirty="0"/>
          </a:p>
        </p:txBody>
      </p:sp>
      <p:sp>
        <p:nvSpPr>
          <p:cNvPr id="50" name="Text 156">
            <a:extLst>
              <a:ext uri="{FF2B5EF4-FFF2-40B4-BE49-F238E27FC236}">
                <a16:creationId xmlns:a16="http://schemas.microsoft.com/office/drawing/2014/main" id="{7BBE5837-65DC-DEC1-7321-EAD78ADF1F66}"/>
              </a:ext>
            </a:extLst>
          </p:cNvPr>
          <p:cNvSpPr/>
          <p:nvPr/>
        </p:nvSpPr>
        <p:spPr>
          <a:xfrm>
            <a:off x="8771953" y="17565318"/>
            <a:ext cx="1086433" cy="155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13" kern="0" spc="21" dirty="0" err="1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PraeDoc</a:t>
            </a:r>
            <a:r>
              <a:rPr lang="en-US" sz="713" kern="0" spc="21" dirty="0">
                <a:solidFill>
                  <a:srgbClr val="6D6D6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Researcher</a:t>
            </a:r>
            <a:endParaRPr lang="en-US" sz="713" dirty="0"/>
          </a:p>
        </p:txBody>
      </p:sp>
      <p:sp>
        <p:nvSpPr>
          <p:cNvPr id="30" name="Shape 39">
            <a:extLst>
              <a:ext uri="{FF2B5EF4-FFF2-40B4-BE49-F238E27FC236}">
                <a16:creationId xmlns:a16="http://schemas.microsoft.com/office/drawing/2014/main" id="{B03CE0E1-73E6-69AF-B264-D0D4A7354E14}"/>
              </a:ext>
            </a:extLst>
          </p:cNvPr>
          <p:cNvSpPr/>
          <p:nvPr/>
        </p:nvSpPr>
        <p:spPr>
          <a:xfrm>
            <a:off x="2697925" y="7313332"/>
            <a:ext cx="1874711" cy="2656505"/>
          </a:xfrm>
          <a:prstGeom prst="rect">
            <a:avLst/>
          </a:prstGeom>
          <a:solidFill>
            <a:srgbClr val="F1F5E3"/>
          </a:solidFill>
          <a:ln w="9525">
            <a:solidFill>
              <a:srgbClr val="94C1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3">
            <a:extLst>
              <a:ext uri="{FF2B5EF4-FFF2-40B4-BE49-F238E27FC236}">
                <a16:creationId xmlns:a16="http://schemas.microsoft.com/office/drawing/2014/main" id="{5E475839-8CD6-8400-1183-DB1523423A4D}"/>
              </a:ext>
            </a:extLst>
          </p:cNvPr>
          <p:cNvSpPr/>
          <p:nvPr/>
        </p:nvSpPr>
        <p:spPr>
          <a:xfrm>
            <a:off x="2765838" y="7964771"/>
            <a:ext cx="1478891" cy="270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>
              <a:lnSpc>
                <a:spcPct val="130000"/>
              </a:lnSpc>
            </a:pPr>
            <a:r>
              <a:rPr lang="de-DE" sz="900" dirty="0">
                <a:solidFill>
                  <a:srgbClr val="43434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Akkordfolgen, Tonarten und Kadenzen sind grundlegende Bausteine vieler Musikstile.</a:t>
            </a:r>
            <a:endParaRPr lang="en-US" sz="900" dirty="0"/>
          </a:p>
        </p:txBody>
      </p:sp>
      <p:sp>
        <p:nvSpPr>
          <p:cNvPr id="53" name="Text 36">
            <a:extLst>
              <a:ext uri="{FF2B5EF4-FFF2-40B4-BE49-F238E27FC236}">
                <a16:creationId xmlns:a16="http://schemas.microsoft.com/office/drawing/2014/main" id="{E681FE88-0782-1B2A-876F-8C442551C699}"/>
              </a:ext>
            </a:extLst>
          </p:cNvPr>
          <p:cNvSpPr/>
          <p:nvPr/>
        </p:nvSpPr>
        <p:spPr>
          <a:xfrm>
            <a:off x="2759711" y="7723482"/>
            <a:ext cx="145990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Harmonie</a:t>
            </a:r>
            <a:endParaRPr lang="en-US" sz="1200" dirty="0"/>
          </a:p>
        </p:txBody>
      </p:sp>
      <p:sp>
        <p:nvSpPr>
          <p:cNvPr id="55" name="Shape 34">
            <a:extLst>
              <a:ext uri="{FF2B5EF4-FFF2-40B4-BE49-F238E27FC236}">
                <a16:creationId xmlns:a16="http://schemas.microsoft.com/office/drawing/2014/main" id="{25847085-604C-2ADE-50C3-DE68E99A25A8}"/>
              </a:ext>
            </a:extLst>
          </p:cNvPr>
          <p:cNvSpPr/>
          <p:nvPr/>
        </p:nvSpPr>
        <p:spPr>
          <a:xfrm>
            <a:off x="2785111" y="7395386"/>
            <a:ext cx="266700" cy="266700"/>
          </a:xfrm>
          <a:prstGeom prst="rect">
            <a:avLst/>
          </a:prstGeom>
          <a:solidFill>
            <a:srgbClr val="94C11C"/>
          </a:solidFill>
          <a:ln w="19050">
            <a:solidFill>
              <a:srgbClr val="7DA5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35">
            <a:extLst>
              <a:ext uri="{FF2B5EF4-FFF2-40B4-BE49-F238E27FC236}">
                <a16:creationId xmlns:a16="http://schemas.microsoft.com/office/drawing/2014/main" id="{3699727E-39D3-8E57-2B1F-276934EC06E8}"/>
              </a:ext>
            </a:extLst>
          </p:cNvPr>
          <p:cNvSpPr/>
          <p:nvPr/>
        </p:nvSpPr>
        <p:spPr>
          <a:xfrm>
            <a:off x="2759711" y="7395386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endParaRPr lang="en-US" sz="900" dirty="0"/>
          </a:p>
        </p:txBody>
      </p: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6065EBBC-2548-3E6E-30CE-3416CF2F65AF}"/>
              </a:ext>
            </a:extLst>
          </p:cNvPr>
          <p:cNvCxnSpPr>
            <a:cxnSpLocks/>
          </p:cNvCxnSpPr>
          <p:nvPr/>
        </p:nvCxnSpPr>
        <p:spPr>
          <a:xfrm>
            <a:off x="2764985" y="8468485"/>
            <a:ext cx="1746249" cy="3316"/>
          </a:xfrm>
          <a:prstGeom prst="line">
            <a:avLst/>
          </a:prstGeom>
          <a:ln>
            <a:solidFill>
              <a:srgbClr val="94C1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 35">
            <a:extLst>
              <a:ext uri="{FF2B5EF4-FFF2-40B4-BE49-F238E27FC236}">
                <a16:creationId xmlns:a16="http://schemas.microsoft.com/office/drawing/2014/main" id="{5BD43B50-1A88-DBEE-1B1E-6809672EFAED}"/>
              </a:ext>
            </a:extLst>
          </p:cNvPr>
          <p:cNvSpPr/>
          <p:nvPr/>
        </p:nvSpPr>
        <p:spPr>
          <a:xfrm>
            <a:off x="2785111" y="7395386"/>
            <a:ext cx="2667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de-DE" sz="900" b="1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</a:rPr>
              <a:t>H</a:t>
            </a:r>
            <a:endParaRPr lang="en-US" sz="900" dirty="0"/>
          </a:p>
        </p:txBody>
      </p:sp>
      <p:pic>
        <p:nvPicPr>
          <p:cNvPr id="105" name="Grafik 104">
            <a:extLst>
              <a:ext uri="{FF2B5EF4-FFF2-40B4-BE49-F238E27FC236}">
                <a16:creationId xmlns:a16="http://schemas.microsoft.com/office/drawing/2014/main" id="{9E3E8202-1441-257A-3D24-AB2634F476D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51222" y="8529796"/>
            <a:ext cx="1388421" cy="1381346"/>
          </a:xfrm>
          <a:prstGeom prst="rect">
            <a:avLst/>
          </a:prstGeom>
        </p:spPr>
      </p:pic>
      <p:sp>
        <p:nvSpPr>
          <p:cNvPr id="114" name="Text 127">
            <a:extLst>
              <a:ext uri="{FF2B5EF4-FFF2-40B4-BE49-F238E27FC236}">
                <a16:creationId xmlns:a16="http://schemas.microsoft.com/office/drawing/2014/main" id="{6B86A0C7-8819-ECE7-8E9D-257057EE8967}"/>
              </a:ext>
            </a:extLst>
          </p:cNvPr>
          <p:cNvSpPr/>
          <p:nvPr/>
        </p:nvSpPr>
        <p:spPr>
          <a:xfrm>
            <a:off x="4123964" y="14788432"/>
            <a:ext cx="2891695" cy="736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de-DE" sz="938" b="1" dirty="0">
              <a:solidFill>
                <a:srgbClr val="1A1A1A"/>
              </a:solidFill>
              <a:latin typeface="Source Sans 3" pitchFamily="34" charset="0"/>
            </a:endParaRPr>
          </a:p>
          <a:p>
            <a:pPr>
              <a:lnSpc>
                <a:spcPct val="140000"/>
              </a:lnSpc>
            </a:pPr>
            <a:r>
              <a:rPr lang="de-DE" sz="938" b="1" u="sng" dirty="0">
                <a:solidFill>
                  <a:srgbClr val="1A1A1A"/>
                </a:solidFill>
                <a:latin typeface="Source Sans 3" pitchFamily="34" charset="0"/>
              </a:rPr>
              <a:t>www.tilia-app.com/</a:t>
            </a:r>
          </a:p>
          <a:p>
            <a:pPr>
              <a:lnSpc>
                <a:spcPct val="140000"/>
              </a:lnSpc>
            </a:pPr>
            <a:r>
              <a:rPr lang="de-DE" sz="938" b="1" u="sng" dirty="0">
                <a:solidFill>
                  <a:srgbClr val="1A1A1A"/>
                </a:solidFill>
                <a:latin typeface="Source Sans 3" pitchFamily="34" charset="0"/>
              </a:rPr>
              <a:t>www.github.com/TimeLineAnnotator/desktop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C8C16D31-E851-2944-2CA5-D018255CE6B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5829" y="13717485"/>
            <a:ext cx="3320852" cy="186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84676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9BCCF03-08B3-4DC5-A9D9-4D259A608AA9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fa990451-427b-49df-a28b-cf07fe94ed5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806</Words>
  <Application>Microsoft Office PowerPoint</Application>
  <PresentationFormat>Benutzerdefiniert</PresentationFormat>
  <Paragraphs>116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Arial</vt:lpstr>
      <vt:lpstr>Barlow Condensed</vt:lpstr>
      <vt:lpstr>Source Code Pro</vt:lpstr>
      <vt:lpstr>Source Sans 3</vt:lpstr>
      <vt:lpstr>Office Theme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Sarah Gimbernau Gimenez</cp:lastModifiedBy>
  <cp:revision>16</cp:revision>
  <cp:lastPrinted>2026-04-22T13:16:34Z</cp:lastPrinted>
  <dcterms:created xsi:type="dcterms:W3CDTF">2026-04-21T05:49:13Z</dcterms:created>
  <dcterms:modified xsi:type="dcterms:W3CDTF">2026-04-22T14:14:08Z</dcterms:modified>
</cp:coreProperties>
</file>